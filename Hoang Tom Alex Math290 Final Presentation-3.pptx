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5143500" cx="9144000"/>
  <p:notesSz cx="6858000" cy="9144000"/>
  <p:embeddedFontLst>
    <p:embeddedFont>
      <p:font typeface="Roboto"/>
      <p:regular r:id="rId39"/>
      <p:bold r:id="rId40"/>
      <p:italic r:id="rId41"/>
      <p:boldItalic r:id="rId42"/>
    </p:embeddedFont>
    <p:embeddedFont>
      <p:font typeface="Triodion"/>
      <p:regular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bold.fntdata"/><Relationship Id="rId20" Type="http://schemas.openxmlformats.org/officeDocument/2006/relationships/slide" Target="slides/slide15.xml"/><Relationship Id="rId42" Type="http://schemas.openxmlformats.org/officeDocument/2006/relationships/font" Target="fonts/Roboto-boldItalic.fntdata"/><Relationship Id="rId41" Type="http://schemas.openxmlformats.org/officeDocument/2006/relationships/font" Target="fonts/Roboto-italic.fntdata"/><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font" Target="fonts/Triodion-regular.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Roboto-regular.fntdata"/><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Outline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How to represent audio</a:t>
            </a:r>
            <a:endParaRPr/>
          </a:p>
          <a:p>
            <a:pPr indent="0" lvl="0" marL="0" rtl="0" algn="l">
              <a:spcBef>
                <a:spcPts val="0"/>
              </a:spcBef>
              <a:spcAft>
                <a:spcPts val="0"/>
              </a:spcAft>
              <a:buNone/>
            </a:pPr>
            <a:r>
              <a:rPr lang="en"/>
              <a:t>Representation as NMF</a:t>
            </a:r>
            <a:endParaRPr/>
          </a:p>
          <a:p>
            <a:pPr indent="0" lvl="0" marL="0" rtl="0" algn="l">
              <a:spcBef>
                <a:spcPts val="0"/>
              </a:spcBef>
              <a:spcAft>
                <a:spcPts val="0"/>
              </a:spcAft>
              <a:buNone/>
            </a:pPr>
            <a:r>
              <a:rPr lang="en"/>
              <a:t>Experimentation: things we tried</a:t>
            </a:r>
            <a:endParaRPr/>
          </a:p>
          <a:p>
            <a:pPr indent="0" lvl="0" marL="0" rtl="0" algn="l">
              <a:spcBef>
                <a:spcPts val="0"/>
              </a:spcBef>
              <a:spcAft>
                <a:spcPts val="0"/>
              </a:spcAft>
              <a:buNone/>
            </a:pPr>
            <a:r>
              <a:rPr lang="en"/>
              <a:t>Why we chose implementation</a:t>
            </a:r>
            <a:endParaRPr/>
          </a:p>
          <a:p>
            <a:pPr indent="0" lvl="0" marL="0" rtl="0" algn="l">
              <a:spcBef>
                <a:spcPts val="0"/>
              </a:spcBef>
              <a:spcAft>
                <a:spcPts val="0"/>
              </a:spcAft>
              <a:buNone/>
            </a:pPr>
            <a:r>
              <a:rPr lang="en"/>
              <a:t>Algorithm</a:t>
            </a:r>
            <a:endParaRPr/>
          </a:p>
          <a:p>
            <a:pPr indent="-298450" lvl="0" marL="457200" rtl="0" algn="l">
              <a:spcBef>
                <a:spcPts val="0"/>
              </a:spcBef>
              <a:spcAft>
                <a:spcPts val="0"/>
              </a:spcAft>
              <a:buSzPts val="1100"/>
              <a:buChar char="-"/>
            </a:pPr>
            <a:r>
              <a:rPr lang="en"/>
              <a:t>Finding B</a:t>
            </a:r>
            <a:endParaRPr/>
          </a:p>
          <a:p>
            <a:pPr indent="-298450" lvl="0" marL="457200" rtl="0" algn="l">
              <a:spcBef>
                <a:spcPts val="0"/>
              </a:spcBef>
              <a:spcAft>
                <a:spcPts val="0"/>
              </a:spcAft>
              <a:buSzPts val="1100"/>
              <a:buChar char="-"/>
            </a:pPr>
            <a:r>
              <a:rPr lang="en"/>
              <a:t>Finding W</a:t>
            </a:r>
            <a:endParaRPr/>
          </a:p>
          <a:p>
            <a:pPr indent="-298450" lvl="0" marL="457200" rtl="0" algn="l">
              <a:spcBef>
                <a:spcPts val="0"/>
              </a:spcBef>
              <a:spcAft>
                <a:spcPts val="0"/>
              </a:spcAft>
              <a:buSzPts val="1100"/>
              <a:buChar char="-"/>
            </a:pPr>
            <a:r>
              <a:rPr lang="en"/>
              <a:t>Recovery (wiener)</a:t>
            </a:r>
            <a:endParaRPr/>
          </a:p>
          <a:p>
            <a:pPr indent="0" lvl="0" marL="0" rtl="0" algn="l">
              <a:spcBef>
                <a:spcPts val="0"/>
              </a:spcBef>
              <a:spcAft>
                <a:spcPts val="0"/>
              </a:spcAft>
              <a:buNone/>
            </a:pPr>
            <a:r>
              <a:rPr lang="en"/>
              <a:t>Proof</a:t>
            </a:r>
            <a:endParaRPr/>
          </a:p>
          <a:p>
            <a:pPr indent="0" lvl="0" marL="0" rtl="0" algn="l">
              <a:spcBef>
                <a:spcPts val="0"/>
              </a:spcBef>
              <a:spcAft>
                <a:spcPts val="0"/>
              </a:spcAft>
              <a:buNone/>
            </a:pPr>
            <a:r>
              <a:rPr lang="en"/>
              <a:t>Results</a:t>
            </a:r>
            <a:endParaRPr/>
          </a:p>
          <a:p>
            <a:pPr indent="0" lvl="0" marL="0" rtl="0" algn="l">
              <a:spcBef>
                <a:spcPts val="0"/>
              </a:spcBef>
              <a:spcAft>
                <a:spcPts val="0"/>
              </a:spcAft>
              <a:buNone/>
            </a:pPr>
            <a:r>
              <a:rPr lang="en"/>
              <a:t>Limitations</a:t>
            </a:r>
            <a:endParaRPr/>
          </a:p>
          <a:p>
            <a:pPr indent="0" lvl="0" marL="0" rtl="0" algn="l">
              <a:spcBef>
                <a:spcPts val="0"/>
              </a:spcBef>
              <a:spcAft>
                <a:spcPts val="0"/>
              </a:spcAft>
              <a:buNone/>
            </a:pPr>
            <a:r>
              <a:rPr lang="en"/>
              <a:t>Sources</a:t>
            </a:r>
            <a:endParaRPr>
              <a:latin typeface="Triodion"/>
              <a:ea typeface="Triodion"/>
              <a:cs typeface="Triodion"/>
              <a:sym typeface="Triodio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dbbecdcd8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dbbecdcd8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Sound we hear comes from various sources</a:t>
            </a:r>
            <a:endParaRPr/>
          </a:p>
          <a:p>
            <a:pPr indent="-298450" lvl="1" marL="914400" rtl="0" algn="l">
              <a:spcBef>
                <a:spcPts val="0"/>
              </a:spcBef>
              <a:spcAft>
                <a:spcPts val="0"/>
              </a:spcAft>
              <a:buSzPts val="1100"/>
              <a:buChar char="○"/>
            </a:pPr>
            <a:r>
              <a:rPr lang="en"/>
              <a:t>different sounds in a band</a:t>
            </a:r>
            <a:endParaRPr/>
          </a:p>
          <a:p>
            <a:pPr indent="-298450" lvl="1" marL="914400" rtl="0" algn="l">
              <a:spcBef>
                <a:spcPts val="0"/>
              </a:spcBef>
              <a:spcAft>
                <a:spcPts val="0"/>
              </a:spcAft>
              <a:buSzPts val="1100"/>
              <a:buChar char="○"/>
            </a:pPr>
            <a:r>
              <a:rPr lang="en"/>
              <a:t>birds, cars, background noise, etc</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We only receive it as a summation of all these different signals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Alex</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dbbecdcd83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dbbecdcd83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Audio </a:t>
            </a:r>
            <a:r>
              <a:rPr lang="en"/>
              <a:t>separation</a:t>
            </a:r>
            <a:r>
              <a:rPr lang="en"/>
              <a:t> is desirable</a:t>
            </a:r>
            <a:endParaRPr/>
          </a:p>
          <a:p>
            <a:pPr indent="-298450" lvl="0" marL="457200" rtl="0" algn="l">
              <a:spcBef>
                <a:spcPts val="0"/>
              </a:spcBef>
              <a:spcAft>
                <a:spcPts val="0"/>
              </a:spcAft>
              <a:buSzPts val="1100"/>
              <a:buChar char="●"/>
            </a:pPr>
            <a:r>
              <a:rPr lang="en"/>
              <a:t>Applications include:</a:t>
            </a:r>
            <a:endParaRPr/>
          </a:p>
          <a:p>
            <a:pPr indent="-298450" lvl="1" marL="914400" rtl="0" algn="l">
              <a:spcBef>
                <a:spcPts val="0"/>
              </a:spcBef>
              <a:spcAft>
                <a:spcPts val="0"/>
              </a:spcAft>
              <a:buSzPts val="1100"/>
              <a:buChar char="○"/>
            </a:pPr>
            <a:r>
              <a:rPr lang="en"/>
              <a:t>filtering (like background noise)</a:t>
            </a:r>
            <a:endParaRPr/>
          </a:p>
          <a:p>
            <a:pPr indent="-298450" lvl="1" marL="914400" rtl="0" algn="l">
              <a:spcBef>
                <a:spcPts val="0"/>
              </a:spcBef>
              <a:spcAft>
                <a:spcPts val="0"/>
              </a:spcAft>
              <a:buSzPts val="1100"/>
              <a:buChar char="○"/>
            </a:pPr>
            <a:r>
              <a:rPr lang="en"/>
              <a:t>isolation for hearing aids</a:t>
            </a:r>
            <a:endParaRPr/>
          </a:p>
          <a:p>
            <a:pPr indent="-298450" lvl="1" marL="914400" rtl="0" algn="l">
              <a:spcBef>
                <a:spcPts val="0"/>
              </a:spcBef>
              <a:spcAft>
                <a:spcPts val="0"/>
              </a:spcAft>
              <a:buSzPts val="1100"/>
              <a:buChar char="○"/>
            </a:pPr>
            <a:r>
              <a:rPr lang="en"/>
              <a:t>enhancing voice commands</a:t>
            </a:r>
            <a:endParaRPr/>
          </a:p>
          <a:p>
            <a:pPr indent="-298450" lvl="1" marL="914400" rtl="0" algn="l">
              <a:spcBef>
                <a:spcPts val="0"/>
              </a:spcBef>
              <a:spcAft>
                <a:spcPts val="0"/>
              </a:spcAft>
              <a:buSzPts val="1100"/>
              <a:buChar char="○"/>
            </a:pPr>
            <a:r>
              <a:rPr lang="en"/>
              <a:t>transcription</a:t>
            </a:r>
            <a:endParaRPr/>
          </a:p>
          <a:p>
            <a:pPr indent="-298450" lvl="1" marL="914400" rtl="0" algn="l">
              <a:spcBef>
                <a:spcPts val="0"/>
              </a:spcBef>
              <a:spcAft>
                <a:spcPts val="0"/>
              </a:spcAft>
              <a:buSzPts val="1100"/>
              <a:buChar char="○"/>
            </a:pPr>
            <a:r>
              <a:rPr lang="en"/>
              <a:t>etc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Hoang</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dbbecdcd8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dbbecdcd8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Explain Data (self explanatory)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Tom</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dbbecdcd83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dbbecdcd8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NMF: great, but must adhere to its constraints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Change audio representation for </a:t>
            </a:r>
            <a:r>
              <a:rPr b="1" lang="en"/>
              <a:t>non negativity</a:t>
            </a:r>
            <a:r>
              <a:rPr b="1" lang="en"/>
              <a:t> constraint</a:t>
            </a:r>
            <a:endParaRPr b="1"/>
          </a:p>
          <a:p>
            <a:pPr indent="-298450" lvl="0" marL="457200" rtl="0" algn="l">
              <a:spcBef>
                <a:spcPts val="0"/>
              </a:spcBef>
              <a:spcAft>
                <a:spcPts val="0"/>
              </a:spcAft>
              <a:buSzPts val="1100"/>
              <a:buChar char="-"/>
            </a:pPr>
            <a:r>
              <a:rPr lang="en"/>
              <a:t>time domain could result in negative amplitudes / representations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we switch to KL</a:t>
            </a:r>
            <a:endParaRPr/>
          </a:p>
          <a:p>
            <a:pPr indent="-298450" lvl="0" marL="457200" rtl="0" algn="l">
              <a:spcBef>
                <a:spcPts val="0"/>
              </a:spcBef>
              <a:spcAft>
                <a:spcPts val="0"/>
              </a:spcAft>
              <a:buSzPts val="1100"/>
              <a:buChar char="-"/>
            </a:pPr>
            <a:r>
              <a:rPr lang="en"/>
              <a:t>Evidence showing it’s better for audio perceptions</a:t>
            </a:r>
            <a:endParaRPr/>
          </a:p>
          <a:p>
            <a:pPr indent="-298450" lvl="0" marL="457200" rtl="0" algn="l">
              <a:spcBef>
                <a:spcPts val="0"/>
              </a:spcBef>
              <a:spcAft>
                <a:spcPts val="0"/>
              </a:spcAft>
              <a:buSzPts val="1100"/>
              <a:buChar char="-"/>
            </a:pPr>
            <a:r>
              <a:rPr lang="en"/>
              <a:t>Not linear additive → logarithmic additive (don’t worry about it too much, but just in case they ask questions)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Alex</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dbf8a0b5d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dbf8a0b5d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BRIEFLY </a:t>
            </a:r>
            <a:r>
              <a:rPr b="1" lang="en"/>
              <a:t>EXPLAIN WHAT FOURIER TRANSFORMS ARE</a:t>
            </a:r>
            <a:r>
              <a:rPr lang="en"/>
              <a:t> AND WHAT SHORT TIME FOURIER TRANSFORM IS (this isn’t the topic of our presentation this 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STFT, transform audio from being represented by amplitude vs time -&gt; Frequency vs Time. </a:t>
            </a:r>
            <a:endParaRPr/>
          </a:p>
          <a:p>
            <a:pPr indent="0" lvl="0" marL="0" rtl="0" algn="l">
              <a:spcBef>
                <a:spcPts val="0"/>
              </a:spcBef>
              <a:spcAft>
                <a:spcPts val="0"/>
              </a:spcAft>
              <a:buNone/>
            </a:pPr>
            <a:r>
              <a:rPr lang="en"/>
              <a:t>Specifically STFT, it chops an audio signal into small windows with a arbitrary amount of overlap(for smooth). In the frequency domain, we can manipulate audio and we will be working on source separation there.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Note that STFT is just an algorithm to solve the fourier transform problem as quickly as possible that is context aware which is great for songs and our goals.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Alex</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dbbecdcd83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dbbecdcd83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Cool Visuals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Alex</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dbbecdcd83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dbbecdcd83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Songs are </a:t>
            </a:r>
            <a:r>
              <a:rPr b="1" lang="en"/>
              <a:t>NOT independent</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Continuous stream of sounds</a:t>
            </a:r>
            <a:endParaRPr/>
          </a:p>
          <a:p>
            <a:pPr indent="0" lvl="0" marL="0" rtl="0" algn="l">
              <a:spcBef>
                <a:spcPts val="0"/>
              </a:spcBef>
              <a:spcAft>
                <a:spcPts val="0"/>
              </a:spcAft>
              <a:buNone/>
            </a:pPr>
            <a:r>
              <a:rPr lang="en"/>
              <a:t>Usually in the same key</a:t>
            </a:r>
            <a:endParaRPr/>
          </a:p>
          <a:p>
            <a:pPr indent="0" lvl="0" marL="0" rtl="0" algn="l">
              <a:spcBef>
                <a:spcPts val="0"/>
              </a:spcBef>
              <a:spcAft>
                <a:spcPts val="0"/>
              </a:spcAft>
              <a:buNone/>
            </a:pPr>
            <a:r>
              <a:rPr lang="en"/>
              <a:t>Cycles like chorus, verses, same instruments, same type of voice, etc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Hoang</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dbbecdcd83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dbbecdcd83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DEFINE Transient:</a:t>
            </a:r>
            <a:r>
              <a:rPr b="1" lang="en"/>
              <a:t> last a short period of time</a:t>
            </a:r>
            <a:endParaRPr b="1"/>
          </a:p>
          <a:p>
            <a:pPr indent="-298450" lvl="0" marL="457200" rtl="0" algn="l">
              <a:spcBef>
                <a:spcPts val="0"/>
              </a:spcBef>
              <a:spcAft>
                <a:spcPts val="0"/>
              </a:spcAft>
              <a:buSzPts val="1100"/>
              <a:buChar char="-"/>
            </a:pPr>
            <a:r>
              <a:rPr lang="en"/>
              <a:t>L1 makes sense since we want to eliminate features rather than flatten and add too many like L2 minimization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Uniform application is problematic because different instruments sound different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Hoang</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dbbecdcd83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dbbecdcd83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experimented with Tjoa’s Algorithm that learns an dictionary of atoms being made up of a single pure frequency + their overtones. This was inspired by the problem of solving source separation problems of having multiple instrument playing different parts at the </a:t>
            </a:r>
            <a:r>
              <a:rPr lang="en"/>
              <a:t>exact</a:t>
            </a:r>
            <a:r>
              <a:rPr lang="en"/>
              <a:t> same time. When occurs in music in forms like unison melodies. Currently is outside of the scope because of the composition of sound requires soft and probabilistic assignments to perform well.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Tom</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dbbecdcd83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dbbecdcd83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Tom</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dbbecdcd83_2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dbbecdcd83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Tom</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dbbecdcd83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dbbecdcd83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set up </a:t>
            </a:r>
            <a:r>
              <a:rPr lang="en"/>
              <a:t>our approach:</a:t>
            </a:r>
            <a:endParaRPr/>
          </a:p>
          <a:p>
            <a:pPr indent="-298450" lvl="0" marL="457200" rtl="0" algn="l">
              <a:spcBef>
                <a:spcPts val="0"/>
              </a:spcBef>
              <a:spcAft>
                <a:spcPts val="0"/>
              </a:spcAft>
              <a:buSzPts val="1100"/>
              <a:buChar char="-"/>
            </a:pPr>
            <a:r>
              <a:rPr lang="en"/>
              <a:t>we’re in a specific niche</a:t>
            </a:r>
            <a:endParaRPr/>
          </a:p>
          <a:p>
            <a:pPr indent="-298450" lvl="0" marL="457200" rtl="0" algn="l">
              <a:spcBef>
                <a:spcPts val="0"/>
              </a:spcBef>
              <a:spcAft>
                <a:spcPts val="0"/>
              </a:spcAft>
              <a:buSzPts val="1100"/>
              <a:buChar char="-"/>
            </a:pPr>
            <a:r>
              <a:rPr lang="en"/>
              <a:t>we can tailor our approach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Alex</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dbbecdcd83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dbbecdcd83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Satisfies non-negativity constraint</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This is just preparing our audio data in a way NMF can utilize</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Notation: </a:t>
            </a:r>
            <a:endParaRPr/>
          </a:p>
          <a:p>
            <a:pPr indent="-298450" lvl="0" marL="457200" rtl="0" algn="l">
              <a:spcBef>
                <a:spcPts val="0"/>
              </a:spcBef>
              <a:spcAft>
                <a:spcPts val="0"/>
              </a:spcAft>
              <a:buSzPts val="1100"/>
              <a:buChar char="-"/>
            </a:pPr>
            <a:r>
              <a:rPr lang="en"/>
              <a:t>F is number of frequency bins</a:t>
            </a:r>
            <a:endParaRPr/>
          </a:p>
          <a:p>
            <a:pPr indent="-298450" lvl="0" marL="457200" rtl="0" algn="l">
              <a:spcBef>
                <a:spcPts val="0"/>
              </a:spcBef>
              <a:spcAft>
                <a:spcPts val="0"/>
              </a:spcAft>
              <a:buSzPts val="1100"/>
              <a:buChar char="-"/>
            </a:pPr>
            <a:r>
              <a:rPr lang="en"/>
              <a:t>T is number of time frames</a:t>
            </a:r>
            <a:endParaRPr/>
          </a:p>
          <a:p>
            <a:pPr indent="-298450" lvl="0" marL="457200" rtl="0" algn="l">
              <a:spcBef>
                <a:spcPts val="0"/>
              </a:spcBef>
              <a:spcAft>
                <a:spcPts val="0"/>
              </a:spcAft>
              <a:buSzPts val="1100"/>
              <a:buChar char="-"/>
            </a:pPr>
            <a:r>
              <a:rPr lang="en"/>
              <a:t>This is just fourier transform notation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Alex</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dbbecdcd83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dbbecdcd83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explain </a:t>
            </a:r>
            <a:r>
              <a:rPr b="1" lang="en"/>
              <a:t>notation change</a:t>
            </a:r>
            <a:endParaRPr/>
          </a:p>
          <a:p>
            <a:pPr indent="-298450" lvl="0" marL="457200" rtl="0" algn="l">
              <a:spcBef>
                <a:spcPts val="0"/>
              </a:spcBef>
              <a:spcAft>
                <a:spcPts val="0"/>
              </a:spcAft>
              <a:buSzPts val="1100"/>
              <a:buChar char="-"/>
            </a:pPr>
            <a:r>
              <a:rPr lang="en"/>
              <a:t>we’ve all seen this before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Hoang</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dc161f06da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dc161f06da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show visual for clarification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Hoang</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dbbecdcd83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dbbecdcd83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Don’t want to overfit for what our ears can’t even pick up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Maybe note that bass is already quiet in general, so that’s why we don’t </a:t>
            </a:r>
            <a:r>
              <a:rPr lang="en"/>
              <a:t>really</a:t>
            </a:r>
            <a:r>
              <a:rPr lang="en"/>
              <a:t> apply it here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Drums are a different beast, which we’ll get into later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Hoang</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dbf8a0b5d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dbf8a0b5d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 various ranks for each </a:t>
            </a:r>
            <a:r>
              <a:rPr i="1" lang="en"/>
              <a:t>B</a:t>
            </a:r>
            <a:r>
              <a:rPr lang="en"/>
              <a:t> matrix</a:t>
            </a:r>
            <a:endParaRPr/>
          </a:p>
          <a:p>
            <a:pPr indent="-298450" lvl="0" marL="457200" rtl="0" algn="l">
              <a:spcBef>
                <a:spcPts val="0"/>
              </a:spcBef>
              <a:spcAft>
                <a:spcPts val="0"/>
              </a:spcAft>
              <a:buSzPts val="1100"/>
              <a:buChar char="-"/>
            </a:pPr>
            <a:r>
              <a:rPr lang="en"/>
              <a:t>vocals and other have the most possibilities, so give them a larger rank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Note the minimization function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Hoang</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dbf8a0b5d6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dbf8a0b5d6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Here’s the multiplicative update!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Hoang</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dbf8a0b5d6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dbf8a0b5d6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Tom</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dbbecdcd83_2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dbbecdcd83_2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Tom</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dbbecdcd83_2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dbbecdcd83_2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Tom</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dbf8a0b5d6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dbf8a0b5d6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Hoang</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dc659522dd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dc659522dd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Hoang</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dbf8a0b5d6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dbf8a0b5d6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tune each hyperparameter individually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Puts each type in it’s own bucket conceptually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Alex</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dbbecdcd83_2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dbbecdcd83_2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dc161f06da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dc161f06da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Hoang</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dc161f06da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dc161f06da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least mention that we have audio separation.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Hoang</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dc161f06da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dc161f06da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SDR: Measures the</a:t>
            </a:r>
            <a:r>
              <a:rPr b="1" lang="en">
                <a:solidFill>
                  <a:schemeClr val="dk1"/>
                </a:solidFill>
              </a:rPr>
              <a:t> </a:t>
            </a:r>
            <a:r>
              <a:rPr b="1" lang="en" sz="1200">
                <a:solidFill>
                  <a:schemeClr val="dk1"/>
                </a:solidFill>
                <a:latin typeface="Roboto"/>
                <a:ea typeface="Roboto"/>
                <a:cs typeface="Roboto"/>
                <a:sym typeface="Roboto"/>
              </a:rPr>
              <a:t>overall quality</a:t>
            </a:r>
            <a:r>
              <a:rPr lang="en">
                <a:solidFill>
                  <a:schemeClr val="dk1"/>
                </a:solidFill>
              </a:rPr>
              <a:t> of the separated audio. It calculates the power ratio between the intended source and all combined errors (interference, artifacts, and added noise). </a:t>
            </a:r>
            <a:r>
              <a:rPr i="1" lang="en" sz="1200">
                <a:solidFill>
                  <a:schemeClr val="dk1"/>
                </a:solidFill>
                <a:latin typeface="Roboto"/>
                <a:ea typeface="Roboto"/>
                <a:cs typeface="Roboto"/>
                <a:sym typeface="Roboto"/>
              </a:rPr>
              <a:t>Higher is better.</a:t>
            </a:r>
            <a:r>
              <a:rPr lang="en">
                <a:solidFill>
                  <a:schemeClr val="dk1"/>
                </a:solidFill>
              </a:rPr>
              <a:t>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SIR: Measures how well the algorithm </a:t>
            </a:r>
            <a:r>
              <a:rPr b="1" lang="en" sz="1200">
                <a:solidFill>
                  <a:schemeClr val="dk1"/>
                </a:solidFill>
                <a:latin typeface="Roboto"/>
                <a:ea typeface="Roboto"/>
                <a:cs typeface="Roboto"/>
                <a:sym typeface="Roboto"/>
              </a:rPr>
              <a:t>suppresses other sound sources</a:t>
            </a:r>
            <a:r>
              <a:rPr lang="en">
                <a:solidFill>
                  <a:schemeClr val="dk1"/>
                </a:solidFill>
              </a:rPr>
              <a:t>. For example, in a vocal extraction, it measures how much of the background music is still bleeding into the vocal track. </a:t>
            </a:r>
            <a:r>
              <a:rPr i="1" lang="en" sz="1200">
                <a:solidFill>
                  <a:schemeClr val="dk1"/>
                </a:solidFill>
                <a:latin typeface="Roboto"/>
                <a:ea typeface="Roboto"/>
                <a:cs typeface="Roboto"/>
                <a:sym typeface="Roboto"/>
              </a:rPr>
              <a:t>Higher is better.</a:t>
            </a:r>
            <a:r>
              <a:rPr lang="en">
                <a:solidFill>
                  <a:schemeClr val="dk1"/>
                </a:solidFill>
              </a:rPr>
              <a:t> </a:t>
            </a:r>
            <a:endParaRPr>
              <a:solidFill>
                <a:schemeClr val="dk1"/>
              </a:solidFill>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 sz="1200">
                <a:solidFill>
                  <a:schemeClr val="dk1"/>
                </a:solidFill>
                <a:latin typeface="Roboto"/>
                <a:ea typeface="Roboto"/>
                <a:cs typeface="Roboto"/>
                <a:sym typeface="Roboto"/>
              </a:rPr>
              <a:t>SAR (Source-to-Artifact Ratio): Measures the fidelity of the separated audio. It</a:t>
            </a:r>
            <a:r>
              <a:rPr b="1" lang="en" sz="1200">
                <a:solidFill>
                  <a:schemeClr val="dk1"/>
                </a:solidFill>
                <a:latin typeface="Roboto"/>
                <a:ea typeface="Roboto"/>
                <a:cs typeface="Roboto"/>
                <a:sym typeface="Roboto"/>
              </a:rPr>
              <a:t> evaluates how many unwanted, unnatural digital "artifacts"</a:t>
            </a:r>
            <a:r>
              <a:rPr lang="en" sz="1200">
                <a:solidFill>
                  <a:schemeClr val="dk1"/>
                </a:solidFill>
                <a:latin typeface="Roboto"/>
                <a:ea typeface="Roboto"/>
                <a:cs typeface="Roboto"/>
                <a:sym typeface="Roboto"/>
              </a:rPr>
              <a:t> (such as swooshing, phasing, or glitchy "musical noise") the separation process added to the original audio. </a:t>
            </a:r>
            <a:r>
              <a:rPr i="1" lang="en" sz="1200">
                <a:solidFill>
                  <a:schemeClr val="dk1"/>
                </a:solidFill>
                <a:latin typeface="Roboto"/>
                <a:ea typeface="Roboto"/>
                <a:cs typeface="Roboto"/>
                <a:sym typeface="Roboto"/>
              </a:rPr>
              <a:t>Higher is better.</a:t>
            </a:r>
            <a:r>
              <a:rPr lang="en">
                <a:solidFill>
                  <a:schemeClr val="dk1"/>
                </a:solidFill>
              </a:rPr>
              <a:t>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Alex</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dbf8a0b5d6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dbf8a0b5d6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 IT IS IMPORTANT WE TALK ABOUT DISCUSSION FOR THESE SLIDES. EXPLAIN WHAT THE GRAPHS MEAN AND WHAT WE’RE TAKING AWAY FROM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TLDR: drums suck ass</a:t>
            </a:r>
            <a:endParaRPr/>
          </a:p>
          <a:p>
            <a:pPr indent="-298450" lvl="0" marL="457200" rtl="0" algn="l">
              <a:spcBef>
                <a:spcPts val="0"/>
              </a:spcBef>
              <a:spcAft>
                <a:spcPts val="0"/>
              </a:spcAft>
              <a:buSzPts val="1100"/>
              <a:buChar char="-"/>
            </a:pPr>
            <a:r>
              <a:rPr lang="en"/>
              <a:t>each bar is evaluation matrix</a:t>
            </a:r>
            <a:endParaRPr/>
          </a:p>
          <a:p>
            <a:pPr indent="-298450" lvl="1" marL="914400" rtl="0" algn="l">
              <a:spcBef>
                <a:spcPts val="0"/>
              </a:spcBef>
              <a:spcAft>
                <a:spcPts val="0"/>
              </a:spcAft>
              <a:buSzPts val="1100"/>
              <a:buChar char="-"/>
            </a:pPr>
            <a:r>
              <a:rPr lang="en"/>
              <a:t>black: overall</a:t>
            </a:r>
            <a:endParaRPr/>
          </a:p>
          <a:p>
            <a:pPr indent="-298450" lvl="1" marL="914400" rtl="0" algn="l">
              <a:spcBef>
                <a:spcPts val="0"/>
              </a:spcBef>
              <a:spcAft>
                <a:spcPts val="0"/>
              </a:spcAft>
              <a:buSzPts val="1100"/>
              <a:buChar char="-"/>
            </a:pPr>
            <a:r>
              <a:rPr lang="en"/>
              <a:t>green: interference</a:t>
            </a:r>
            <a:endParaRPr/>
          </a:p>
          <a:p>
            <a:pPr indent="-298450" lvl="1" marL="914400" rtl="0" algn="l">
              <a:spcBef>
                <a:spcPts val="0"/>
              </a:spcBef>
              <a:spcAft>
                <a:spcPts val="0"/>
              </a:spcAft>
              <a:buSzPts val="1100"/>
              <a:buChar char="-"/>
            </a:pPr>
            <a:r>
              <a:rPr lang="en"/>
              <a:t>red: amount of artificats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Alex</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dbbecdcd83_2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dbbecdcd83_2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Tom</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dbbecdcd83_2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dbbecdcd83_2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Tom</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dc24a6a4a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dc24a6a4a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Triodion"/>
              <a:ea typeface="Triodion"/>
              <a:cs typeface="Triodion"/>
              <a:sym typeface="Triodio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Font typeface="Triodion"/>
              <a:buNone/>
              <a:defRPr sz="5200">
                <a:latin typeface="Triodion"/>
                <a:ea typeface="Triodion"/>
                <a:cs typeface="Triodion"/>
                <a:sym typeface="Triodio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Font typeface="Triodion"/>
              <a:buNone/>
              <a:defRPr sz="2800">
                <a:latin typeface="Triodion"/>
                <a:ea typeface="Triodion"/>
                <a:cs typeface="Triodion"/>
                <a:sym typeface="Triodion"/>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Triodion"/>
              <a:buNone/>
              <a:defRPr sz="2800">
                <a:solidFill>
                  <a:schemeClr val="dk1"/>
                </a:solidFill>
                <a:latin typeface="Triodion"/>
                <a:ea typeface="Triodion"/>
                <a:cs typeface="Triodion"/>
                <a:sym typeface="Triodion"/>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Triodion"/>
              <a:buChar char="●"/>
              <a:defRPr sz="1800">
                <a:solidFill>
                  <a:schemeClr val="dk1"/>
                </a:solidFill>
                <a:latin typeface="Triodion"/>
                <a:ea typeface="Triodion"/>
                <a:cs typeface="Triodion"/>
                <a:sym typeface="Triodion"/>
              </a:defRPr>
            </a:lvl1pPr>
            <a:lvl2pPr indent="-317500" lvl="1" marL="914400">
              <a:lnSpc>
                <a:spcPct val="115000"/>
              </a:lnSpc>
              <a:spcBef>
                <a:spcPts val="0"/>
              </a:spcBef>
              <a:spcAft>
                <a:spcPts val="0"/>
              </a:spcAft>
              <a:buClr>
                <a:schemeClr val="dk1"/>
              </a:buClr>
              <a:buSzPts val="1400"/>
              <a:buFont typeface="Triodion"/>
              <a:buChar char="○"/>
              <a:defRPr>
                <a:solidFill>
                  <a:schemeClr val="dk1"/>
                </a:solidFill>
                <a:latin typeface="Triodion"/>
                <a:ea typeface="Triodion"/>
                <a:cs typeface="Triodion"/>
                <a:sym typeface="Triodion"/>
              </a:defRPr>
            </a:lvl2pPr>
            <a:lvl3pPr indent="-317500" lvl="2" marL="1371600">
              <a:lnSpc>
                <a:spcPct val="115000"/>
              </a:lnSpc>
              <a:spcBef>
                <a:spcPts val="0"/>
              </a:spcBef>
              <a:spcAft>
                <a:spcPts val="0"/>
              </a:spcAft>
              <a:buClr>
                <a:schemeClr val="dk1"/>
              </a:buClr>
              <a:buSzPts val="1400"/>
              <a:buFont typeface="Triodion"/>
              <a:buChar char="■"/>
              <a:defRPr>
                <a:solidFill>
                  <a:schemeClr val="dk1"/>
                </a:solidFill>
                <a:latin typeface="Triodion"/>
                <a:ea typeface="Triodion"/>
                <a:cs typeface="Triodion"/>
                <a:sym typeface="Triodion"/>
              </a:defRPr>
            </a:lvl3pPr>
            <a:lvl4pPr indent="-317500" lvl="3" marL="1828800">
              <a:lnSpc>
                <a:spcPct val="115000"/>
              </a:lnSpc>
              <a:spcBef>
                <a:spcPts val="0"/>
              </a:spcBef>
              <a:spcAft>
                <a:spcPts val="0"/>
              </a:spcAft>
              <a:buClr>
                <a:schemeClr val="dk1"/>
              </a:buClr>
              <a:buSzPts val="1400"/>
              <a:buFont typeface="Triodion"/>
              <a:buChar char="●"/>
              <a:defRPr>
                <a:solidFill>
                  <a:schemeClr val="dk1"/>
                </a:solidFill>
                <a:latin typeface="Triodion"/>
                <a:ea typeface="Triodion"/>
                <a:cs typeface="Triodion"/>
                <a:sym typeface="Triodion"/>
              </a:defRPr>
            </a:lvl4pPr>
            <a:lvl5pPr indent="-317500" lvl="4" marL="2286000">
              <a:lnSpc>
                <a:spcPct val="115000"/>
              </a:lnSpc>
              <a:spcBef>
                <a:spcPts val="0"/>
              </a:spcBef>
              <a:spcAft>
                <a:spcPts val="0"/>
              </a:spcAft>
              <a:buClr>
                <a:schemeClr val="dk1"/>
              </a:buClr>
              <a:buSzPts val="1400"/>
              <a:buFont typeface="Triodion"/>
              <a:buChar char="○"/>
              <a:defRPr>
                <a:solidFill>
                  <a:schemeClr val="dk1"/>
                </a:solidFill>
                <a:latin typeface="Triodion"/>
                <a:ea typeface="Triodion"/>
                <a:cs typeface="Triodion"/>
                <a:sym typeface="Triodion"/>
              </a:defRPr>
            </a:lvl5pPr>
            <a:lvl6pPr indent="-317500" lvl="5" marL="2743200">
              <a:lnSpc>
                <a:spcPct val="115000"/>
              </a:lnSpc>
              <a:spcBef>
                <a:spcPts val="0"/>
              </a:spcBef>
              <a:spcAft>
                <a:spcPts val="0"/>
              </a:spcAft>
              <a:buClr>
                <a:schemeClr val="dk1"/>
              </a:buClr>
              <a:buSzPts val="1400"/>
              <a:buFont typeface="Triodion"/>
              <a:buChar char="■"/>
              <a:defRPr>
                <a:solidFill>
                  <a:schemeClr val="dk1"/>
                </a:solidFill>
                <a:latin typeface="Triodion"/>
                <a:ea typeface="Triodion"/>
                <a:cs typeface="Triodion"/>
                <a:sym typeface="Triodion"/>
              </a:defRPr>
            </a:lvl6pPr>
            <a:lvl7pPr indent="-317500" lvl="6" marL="3200400">
              <a:lnSpc>
                <a:spcPct val="115000"/>
              </a:lnSpc>
              <a:spcBef>
                <a:spcPts val="0"/>
              </a:spcBef>
              <a:spcAft>
                <a:spcPts val="0"/>
              </a:spcAft>
              <a:buClr>
                <a:schemeClr val="dk1"/>
              </a:buClr>
              <a:buSzPts val="1400"/>
              <a:buFont typeface="Triodion"/>
              <a:buChar char="●"/>
              <a:defRPr>
                <a:solidFill>
                  <a:schemeClr val="dk1"/>
                </a:solidFill>
                <a:latin typeface="Triodion"/>
                <a:ea typeface="Triodion"/>
                <a:cs typeface="Triodion"/>
                <a:sym typeface="Triodion"/>
              </a:defRPr>
            </a:lvl7pPr>
            <a:lvl8pPr indent="-317500" lvl="7" marL="3657600">
              <a:lnSpc>
                <a:spcPct val="115000"/>
              </a:lnSpc>
              <a:spcBef>
                <a:spcPts val="0"/>
              </a:spcBef>
              <a:spcAft>
                <a:spcPts val="0"/>
              </a:spcAft>
              <a:buClr>
                <a:schemeClr val="dk1"/>
              </a:buClr>
              <a:buSzPts val="1400"/>
              <a:buFont typeface="Triodion"/>
              <a:buChar char="○"/>
              <a:defRPr>
                <a:solidFill>
                  <a:schemeClr val="dk1"/>
                </a:solidFill>
                <a:latin typeface="Triodion"/>
                <a:ea typeface="Triodion"/>
                <a:cs typeface="Triodion"/>
                <a:sym typeface="Triodion"/>
              </a:defRPr>
            </a:lvl8pPr>
            <a:lvl9pPr indent="-317500" lvl="8" marL="4114800">
              <a:lnSpc>
                <a:spcPct val="115000"/>
              </a:lnSpc>
              <a:spcBef>
                <a:spcPts val="0"/>
              </a:spcBef>
              <a:spcAft>
                <a:spcPts val="0"/>
              </a:spcAft>
              <a:buClr>
                <a:schemeClr val="dk1"/>
              </a:buClr>
              <a:buSzPts val="1400"/>
              <a:buFont typeface="Triodion"/>
              <a:buChar char="■"/>
              <a:defRPr>
                <a:solidFill>
                  <a:schemeClr val="dk1"/>
                </a:solidFill>
                <a:latin typeface="Triodion"/>
                <a:ea typeface="Triodion"/>
                <a:cs typeface="Triodion"/>
                <a:sym typeface="Triodion"/>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6.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3.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2.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2.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0.png"/><Relationship Id="rId4" Type="http://schemas.openxmlformats.org/officeDocument/2006/relationships/image" Target="../media/image26.png"/><Relationship Id="rId5"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744575"/>
            <a:ext cx="8520600" cy="24690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Supervised Non-negative Matrix Factorization for Audio Source Separation</a:t>
            </a:r>
            <a:endParaRPr>
              <a:latin typeface="Triodion"/>
              <a:ea typeface="Triodion"/>
              <a:cs typeface="Triodion"/>
              <a:sym typeface="Triodion"/>
            </a:endParaRPr>
          </a:p>
        </p:txBody>
      </p:sp>
      <p:sp>
        <p:nvSpPr>
          <p:cNvPr id="55" name="Google Shape;55;p13"/>
          <p:cNvSpPr txBox="1"/>
          <p:nvPr>
            <p:ph idx="1" type="subTitle"/>
          </p:nvPr>
        </p:nvSpPr>
        <p:spPr>
          <a:xfrm>
            <a:off x="311700" y="321357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000"/>
              <a:t>Hoang Mai, Tom Zhou, Alex Violet</a:t>
            </a:r>
            <a:endParaRPr sz="2000">
              <a:latin typeface="Triodion"/>
              <a:ea typeface="Triodion"/>
              <a:cs typeface="Triodion"/>
              <a:sym typeface="Triodio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Background &amp; Context</a:t>
            </a:r>
            <a:endParaRPr/>
          </a:p>
        </p:txBody>
      </p:sp>
      <p:pic>
        <p:nvPicPr>
          <p:cNvPr id="61" name="Google Shape;61;p14"/>
          <p:cNvPicPr preferRelativeResize="0"/>
          <p:nvPr/>
        </p:nvPicPr>
        <p:blipFill>
          <a:blip r:embed="rId3">
            <a:alphaModFix/>
          </a:blip>
          <a:stretch>
            <a:fillRect/>
          </a:stretch>
        </p:blipFill>
        <p:spPr>
          <a:xfrm>
            <a:off x="311700" y="1152475"/>
            <a:ext cx="4356085" cy="3416400"/>
          </a:xfrm>
          <a:prstGeom prst="rect">
            <a:avLst/>
          </a:prstGeom>
          <a:noFill/>
          <a:ln>
            <a:noFill/>
          </a:ln>
        </p:spPr>
      </p:pic>
      <p:pic>
        <p:nvPicPr>
          <p:cNvPr id="62" name="Google Shape;62;p14"/>
          <p:cNvPicPr preferRelativeResize="0"/>
          <p:nvPr/>
        </p:nvPicPr>
        <p:blipFill>
          <a:blip r:embed="rId4">
            <a:alphaModFix/>
          </a:blip>
          <a:stretch>
            <a:fillRect/>
          </a:stretch>
        </p:blipFill>
        <p:spPr>
          <a:xfrm>
            <a:off x="4667775" y="1800773"/>
            <a:ext cx="4164524" cy="211980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Foundational NMF and Audio Representation</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69" name="Google Shape;69;p15"/>
          <p:cNvPicPr preferRelativeResize="0"/>
          <p:nvPr/>
        </p:nvPicPr>
        <p:blipFill>
          <a:blip r:embed="rId3">
            <a:alphaModFix/>
          </a:blip>
          <a:stretch>
            <a:fillRect/>
          </a:stretch>
        </p:blipFill>
        <p:spPr>
          <a:xfrm>
            <a:off x="0" y="507206"/>
            <a:ext cx="9144000" cy="412908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MUSDB18 Library:</a:t>
            </a:r>
            <a:endParaRPr/>
          </a:p>
          <a:p>
            <a:pPr indent="0" lvl="0" marL="0" rtl="0" algn="l">
              <a:spcBef>
                <a:spcPts val="1200"/>
              </a:spcBef>
              <a:spcAft>
                <a:spcPts val="0"/>
              </a:spcAft>
              <a:buNone/>
            </a:pPr>
            <a:r>
              <a:rPr lang="en"/>
              <a:t>150 songs</a:t>
            </a:r>
            <a:endParaRPr/>
          </a:p>
          <a:p>
            <a:pPr indent="0" lvl="0" marL="0" rtl="0" algn="l">
              <a:spcBef>
                <a:spcPts val="1200"/>
              </a:spcBef>
              <a:spcAft>
                <a:spcPts val="0"/>
              </a:spcAft>
              <a:buNone/>
            </a:pPr>
            <a:r>
              <a:rPr lang="en"/>
              <a:t>4 Classifications</a:t>
            </a:r>
            <a:endParaRPr/>
          </a:p>
          <a:p>
            <a:pPr indent="0" lvl="0" marL="0" rtl="0" algn="l">
              <a:spcBef>
                <a:spcPts val="1200"/>
              </a:spcBef>
              <a:spcAft>
                <a:spcPts val="1200"/>
              </a:spcAft>
              <a:buNone/>
            </a:pPr>
            <a:r>
              <a:t/>
            </a:r>
            <a:endParaRPr/>
          </a:p>
        </p:txBody>
      </p:sp>
      <p:pic>
        <p:nvPicPr>
          <p:cNvPr id="76" name="Google Shape;76;p16"/>
          <p:cNvPicPr preferRelativeResize="0"/>
          <p:nvPr/>
        </p:nvPicPr>
        <p:blipFill>
          <a:blip r:embed="rId3">
            <a:alphaModFix/>
          </a:blip>
          <a:stretch>
            <a:fillRect/>
          </a:stretch>
        </p:blipFill>
        <p:spPr>
          <a:xfrm>
            <a:off x="2273100" y="799850"/>
            <a:ext cx="6559200" cy="3543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idx="1" type="body"/>
          </p:nvPr>
        </p:nvSpPr>
        <p:spPr>
          <a:xfrm>
            <a:off x="311700" y="1152475"/>
            <a:ext cx="8520600" cy="1326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Time vs. Amplitude Domain → Magnitude Spectrograms</a:t>
            </a:r>
            <a:endParaRPr/>
          </a:p>
          <a:p>
            <a:pPr indent="-342900" lvl="0" marL="457200" rtl="0" algn="l">
              <a:spcBef>
                <a:spcPts val="1200"/>
              </a:spcBef>
              <a:spcAft>
                <a:spcPts val="0"/>
              </a:spcAft>
              <a:buSzPts val="1800"/>
              <a:buChar char="-"/>
            </a:pPr>
            <a:r>
              <a:rPr lang="en"/>
              <a:t>ensures non-negativity</a:t>
            </a:r>
            <a:endParaRPr/>
          </a:p>
          <a:p>
            <a:pPr indent="-342900" lvl="0" marL="457200" rtl="0" algn="l">
              <a:spcBef>
                <a:spcPts val="0"/>
              </a:spcBef>
              <a:spcAft>
                <a:spcPts val="0"/>
              </a:spcAft>
              <a:buSzPts val="1800"/>
              <a:buChar char="-"/>
            </a:pPr>
            <a:r>
              <a:rPr lang="en"/>
              <a:t>via Short-Time Fourier Transform</a:t>
            </a:r>
            <a:endParaRPr/>
          </a:p>
        </p:txBody>
      </p:sp>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NMF and Audio Representation	</a:t>
            </a:r>
            <a:endParaRPr/>
          </a:p>
        </p:txBody>
      </p:sp>
      <p:cxnSp>
        <p:nvCxnSpPr>
          <p:cNvPr id="83" name="Google Shape;83;p17"/>
          <p:cNvCxnSpPr/>
          <p:nvPr/>
        </p:nvCxnSpPr>
        <p:spPr>
          <a:xfrm flipH="1" rot="10800000">
            <a:off x="6989450" y="2983875"/>
            <a:ext cx="1323000" cy="561000"/>
          </a:xfrm>
          <a:prstGeom prst="straightConnector1">
            <a:avLst/>
          </a:prstGeom>
          <a:noFill/>
          <a:ln cap="flat" cmpd="sng" w="28575">
            <a:solidFill>
              <a:schemeClr val="dk1"/>
            </a:solidFill>
            <a:prstDash val="solid"/>
            <a:round/>
            <a:headEnd len="med" w="med" type="oval"/>
            <a:tailEnd len="med" w="med" type="oval"/>
          </a:ln>
        </p:spPr>
      </p:cxnSp>
      <p:sp>
        <p:nvSpPr>
          <p:cNvPr id="84" name="Google Shape;84;p17"/>
          <p:cNvSpPr txBox="1"/>
          <p:nvPr/>
        </p:nvSpPr>
        <p:spPr>
          <a:xfrm>
            <a:off x="6894200" y="3458092"/>
            <a:ext cx="306900" cy="42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Triodion"/>
                <a:ea typeface="Triodion"/>
                <a:cs typeface="Triodion"/>
                <a:sym typeface="Triodion"/>
              </a:rPr>
              <a:t>p</a:t>
            </a:r>
            <a:endParaRPr sz="1800">
              <a:solidFill>
                <a:schemeClr val="dk1"/>
              </a:solidFill>
              <a:latin typeface="Triodion"/>
              <a:ea typeface="Triodion"/>
              <a:cs typeface="Triodion"/>
              <a:sym typeface="Triodion"/>
            </a:endParaRPr>
          </a:p>
        </p:txBody>
      </p:sp>
      <p:sp>
        <p:nvSpPr>
          <p:cNvPr id="85" name="Google Shape;85;p17"/>
          <p:cNvSpPr txBox="1"/>
          <p:nvPr/>
        </p:nvSpPr>
        <p:spPr>
          <a:xfrm>
            <a:off x="8104933" y="2913025"/>
            <a:ext cx="306900" cy="42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Triodion"/>
                <a:ea typeface="Triodion"/>
                <a:cs typeface="Triodion"/>
                <a:sym typeface="Triodion"/>
              </a:rPr>
              <a:t>q</a:t>
            </a:r>
            <a:endParaRPr sz="1800">
              <a:solidFill>
                <a:schemeClr val="dk1"/>
              </a:solidFill>
              <a:latin typeface="Triodion"/>
              <a:ea typeface="Triodion"/>
              <a:cs typeface="Triodion"/>
              <a:sym typeface="Triodion"/>
            </a:endParaRPr>
          </a:p>
        </p:txBody>
      </p:sp>
      <p:pic>
        <p:nvPicPr>
          <p:cNvPr id="86" name="Google Shape;86;p17"/>
          <p:cNvPicPr preferRelativeResize="0"/>
          <p:nvPr/>
        </p:nvPicPr>
        <p:blipFill rotWithShape="1">
          <a:blip r:embed="rId3">
            <a:alphaModFix/>
          </a:blip>
          <a:srcRect b="0" l="11551" r="0" t="0"/>
          <a:stretch/>
        </p:blipFill>
        <p:spPr>
          <a:xfrm>
            <a:off x="6551283" y="3916625"/>
            <a:ext cx="2203475" cy="934250"/>
          </a:xfrm>
          <a:prstGeom prst="rect">
            <a:avLst/>
          </a:prstGeom>
          <a:noFill/>
          <a:ln>
            <a:noFill/>
          </a:ln>
        </p:spPr>
      </p:pic>
      <p:cxnSp>
        <p:nvCxnSpPr>
          <p:cNvPr id="87" name="Google Shape;87;p17"/>
          <p:cNvCxnSpPr/>
          <p:nvPr/>
        </p:nvCxnSpPr>
        <p:spPr>
          <a:xfrm>
            <a:off x="7628675" y="3595675"/>
            <a:ext cx="0" cy="296400"/>
          </a:xfrm>
          <a:prstGeom prst="straightConnector1">
            <a:avLst/>
          </a:prstGeom>
          <a:noFill/>
          <a:ln cap="flat" cmpd="sng" w="19050">
            <a:solidFill>
              <a:schemeClr val="dk1"/>
            </a:solidFill>
            <a:prstDash val="solid"/>
            <a:round/>
            <a:headEnd len="med" w="med" type="none"/>
            <a:tailEnd len="med" w="med" type="triangle"/>
          </a:ln>
        </p:spPr>
      </p:cxnSp>
      <p:pic>
        <p:nvPicPr>
          <p:cNvPr id="88" name="Google Shape;88;p17"/>
          <p:cNvPicPr preferRelativeResize="0"/>
          <p:nvPr/>
        </p:nvPicPr>
        <p:blipFill rotWithShape="1">
          <a:blip r:embed="rId4">
            <a:alphaModFix/>
          </a:blip>
          <a:srcRect b="20948" l="47159" r="3085" t="5883"/>
          <a:stretch/>
        </p:blipFill>
        <p:spPr>
          <a:xfrm>
            <a:off x="6021900" y="694800"/>
            <a:ext cx="2810400" cy="1878476"/>
          </a:xfrm>
          <a:prstGeom prst="rect">
            <a:avLst/>
          </a:prstGeom>
          <a:noFill/>
          <a:ln>
            <a:noFill/>
          </a:ln>
        </p:spPr>
      </p:pic>
      <p:sp>
        <p:nvSpPr>
          <p:cNvPr id="89" name="Google Shape;89;p17"/>
          <p:cNvSpPr txBox="1"/>
          <p:nvPr/>
        </p:nvSpPr>
        <p:spPr>
          <a:xfrm>
            <a:off x="311700" y="2822500"/>
            <a:ext cx="6421500" cy="157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Triodion"/>
                <a:ea typeface="Triodion"/>
                <a:cs typeface="Triodion"/>
                <a:sym typeface="Triodion"/>
              </a:rPr>
              <a:t>Switch from Euclidean Distance to Kullback–Leibler (KL) divergence</a:t>
            </a:r>
            <a:endParaRPr sz="1800">
              <a:solidFill>
                <a:schemeClr val="dk1"/>
              </a:solidFill>
              <a:latin typeface="Triodion"/>
              <a:ea typeface="Triodion"/>
              <a:cs typeface="Triodion"/>
              <a:sym typeface="Triodion"/>
            </a:endParaRPr>
          </a:p>
          <a:p>
            <a:pPr indent="-342900" lvl="0" marL="457200" rtl="0" algn="l">
              <a:lnSpc>
                <a:spcPct val="115000"/>
              </a:lnSpc>
              <a:spcBef>
                <a:spcPts val="1200"/>
              </a:spcBef>
              <a:spcAft>
                <a:spcPts val="0"/>
              </a:spcAft>
              <a:buClr>
                <a:schemeClr val="dk1"/>
              </a:buClr>
              <a:buSzPts val="1800"/>
              <a:buFont typeface="Triodion"/>
              <a:buChar char="-"/>
            </a:pPr>
            <a:r>
              <a:rPr lang="en" sz="1800">
                <a:solidFill>
                  <a:schemeClr val="dk1"/>
                </a:solidFill>
                <a:latin typeface="Triodion"/>
                <a:ea typeface="Triodion"/>
                <a:cs typeface="Triodion"/>
                <a:sym typeface="Triodion"/>
              </a:rPr>
              <a:t>KL’s scale-invariant properties are better for audio </a:t>
            </a:r>
            <a:endParaRPr sz="1800">
              <a:solidFill>
                <a:schemeClr val="dk1"/>
              </a:solidFill>
              <a:latin typeface="Triodion"/>
              <a:ea typeface="Triodion"/>
              <a:cs typeface="Triodion"/>
              <a:sym typeface="Triodion"/>
            </a:endParaRPr>
          </a:p>
          <a:p>
            <a:pPr indent="-342900" lvl="0" marL="457200" rtl="0" algn="l">
              <a:lnSpc>
                <a:spcPct val="115000"/>
              </a:lnSpc>
              <a:spcBef>
                <a:spcPts val="0"/>
              </a:spcBef>
              <a:spcAft>
                <a:spcPts val="0"/>
              </a:spcAft>
              <a:buClr>
                <a:schemeClr val="dk1"/>
              </a:buClr>
              <a:buSzPts val="1800"/>
              <a:buFont typeface="Triodion"/>
              <a:buChar char="-"/>
            </a:pPr>
            <a:r>
              <a:rPr lang="en" sz="1800">
                <a:solidFill>
                  <a:schemeClr val="dk1"/>
                </a:solidFill>
                <a:latin typeface="Triodion"/>
                <a:ea typeface="Triodion"/>
                <a:cs typeface="Triodion"/>
                <a:sym typeface="Triodion"/>
              </a:rPr>
              <a:t>Unlike Euclidean distance, which assumes Gaussian noise</a:t>
            </a:r>
            <a:endParaRPr sz="1800">
              <a:solidFill>
                <a:schemeClr val="dk1"/>
              </a:solidFill>
              <a:latin typeface="Triodion"/>
              <a:ea typeface="Triodion"/>
              <a:cs typeface="Triodion"/>
              <a:sym typeface="Triodio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Short Time Fourier Transform</a:t>
            </a:r>
            <a:endParaRPr/>
          </a:p>
        </p:txBody>
      </p:sp>
      <p:pic>
        <p:nvPicPr>
          <p:cNvPr id="95" name="Google Shape;95;p18"/>
          <p:cNvPicPr preferRelativeResize="0"/>
          <p:nvPr/>
        </p:nvPicPr>
        <p:blipFill>
          <a:blip r:embed="rId3">
            <a:alphaModFix/>
          </a:blip>
          <a:stretch>
            <a:fillRect/>
          </a:stretch>
        </p:blipFill>
        <p:spPr>
          <a:xfrm>
            <a:off x="572213" y="1017725"/>
            <a:ext cx="7999577" cy="38209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p:cNvPicPr preferRelativeResize="0"/>
          <p:nvPr/>
        </p:nvPicPr>
        <p:blipFill>
          <a:blip r:embed="rId3">
            <a:alphaModFix/>
          </a:blip>
          <a:stretch>
            <a:fillRect/>
          </a:stretch>
        </p:blipFill>
        <p:spPr>
          <a:xfrm>
            <a:off x="4892233" y="-5"/>
            <a:ext cx="3733241" cy="5143498"/>
          </a:xfrm>
          <a:prstGeom prst="rect">
            <a:avLst/>
          </a:prstGeom>
          <a:noFill/>
          <a:ln>
            <a:noFill/>
          </a:ln>
        </p:spPr>
      </p:pic>
      <p:pic>
        <p:nvPicPr>
          <p:cNvPr id="101" name="Google Shape;101;p19"/>
          <p:cNvPicPr preferRelativeResize="0"/>
          <p:nvPr/>
        </p:nvPicPr>
        <p:blipFill>
          <a:blip r:embed="rId4">
            <a:alphaModFix/>
          </a:blip>
          <a:stretch>
            <a:fillRect/>
          </a:stretch>
        </p:blipFill>
        <p:spPr>
          <a:xfrm>
            <a:off x="518525" y="0"/>
            <a:ext cx="3594495" cy="51434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Weakness of Regular NMF</a:t>
            </a:r>
            <a:endParaRPr/>
          </a:p>
        </p:txBody>
      </p:sp>
      <p:sp>
        <p:nvSpPr>
          <p:cNvPr id="107" name="Google Shape;10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KL-NMF fails to capture key aspects of music alone</a:t>
            </a:r>
            <a:endParaRPr/>
          </a:p>
          <a:p>
            <a:pPr indent="-342900" lvl="0" marL="457200" rtl="0" algn="l">
              <a:spcBef>
                <a:spcPts val="1200"/>
              </a:spcBef>
              <a:spcAft>
                <a:spcPts val="0"/>
              </a:spcAft>
              <a:buSzPts val="1800"/>
              <a:buChar char="-"/>
            </a:pPr>
            <a:r>
              <a:rPr lang="en"/>
              <a:t>treats each tight frame as an independent </a:t>
            </a:r>
            <a:r>
              <a:rPr lang="en"/>
              <a:t>observation</a:t>
            </a:r>
            <a:endParaRPr/>
          </a:p>
          <a:p>
            <a:pPr indent="-342900" lvl="0" marL="457200" rtl="0" algn="l">
              <a:spcBef>
                <a:spcPts val="0"/>
              </a:spcBef>
              <a:spcAft>
                <a:spcPts val="0"/>
              </a:spcAft>
              <a:buSzPts val="1800"/>
              <a:buChar char="-"/>
            </a:pPr>
            <a:r>
              <a:rPr lang="en"/>
              <a:t>ignores highly correlated nature of music</a:t>
            </a:r>
            <a:endParaRPr/>
          </a:p>
          <a:p>
            <a:pPr indent="0" lvl="0" marL="0" rtl="0" algn="l">
              <a:spcBef>
                <a:spcPts val="1200"/>
              </a:spcBef>
              <a:spcAft>
                <a:spcPts val="1200"/>
              </a:spcAft>
              <a:buNone/>
            </a:pPr>
            <a:r>
              <a:rPr lang="en"/>
              <a:t>Results in unstable activation weights or robotic sounding music</a:t>
            </a:r>
            <a:endParaRPr/>
          </a:p>
        </p:txBody>
      </p:sp>
      <p:pic>
        <p:nvPicPr>
          <p:cNvPr id="108" name="Google Shape;108;p20"/>
          <p:cNvPicPr preferRelativeResize="0"/>
          <p:nvPr/>
        </p:nvPicPr>
        <p:blipFill>
          <a:blip r:embed="rId3">
            <a:alphaModFix/>
          </a:blip>
          <a:stretch>
            <a:fillRect/>
          </a:stretch>
        </p:blipFill>
        <p:spPr>
          <a:xfrm>
            <a:off x="2124352" y="3023575"/>
            <a:ext cx="4895275" cy="17773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idx="1" type="body"/>
          </p:nvPr>
        </p:nvSpPr>
        <p:spPr>
          <a:xfrm>
            <a:off x="311700" y="1152475"/>
            <a:ext cx="4969500" cy="3737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Cost of Uniform Application</a:t>
            </a:r>
            <a:endParaRPr/>
          </a:p>
          <a:p>
            <a:pPr indent="-342900" lvl="0" marL="457200" rtl="0" algn="l">
              <a:spcBef>
                <a:spcPts val="1200"/>
              </a:spcBef>
              <a:spcAft>
                <a:spcPts val="0"/>
              </a:spcAft>
              <a:buSzPts val="1800"/>
              <a:buChar char="-"/>
            </a:pPr>
            <a:r>
              <a:rPr lang="en"/>
              <a:t>Adding temporal continuity cost</a:t>
            </a:r>
            <a:endParaRPr/>
          </a:p>
          <a:p>
            <a:pPr indent="-342900" lvl="0" marL="457200" rtl="0" algn="l">
              <a:spcBef>
                <a:spcPts val="0"/>
              </a:spcBef>
              <a:spcAft>
                <a:spcPts val="0"/>
              </a:spcAft>
              <a:buSzPts val="1800"/>
              <a:buChar char="-"/>
            </a:pPr>
            <a:r>
              <a:rPr lang="en"/>
              <a:t>Transient Instruments (eg: drums) </a:t>
            </a:r>
            <a:br>
              <a:rPr lang="en"/>
            </a:br>
            <a:r>
              <a:rPr lang="en"/>
              <a:t>L</a:t>
            </a:r>
            <a:r>
              <a:rPr baseline="-25000" lang="en"/>
              <a:t>1</a:t>
            </a:r>
            <a:r>
              <a:rPr lang="en"/>
              <a:t> minimization</a:t>
            </a:r>
            <a:endParaRPr/>
          </a:p>
          <a:p>
            <a:pPr indent="-342900" lvl="0" marL="457200" rtl="0" algn="l">
              <a:spcBef>
                <a:spcPts val="0"/>
              </a:spcBef>
              <a:spcAft>
                <a:spcPts val="0"/>
              </a:spcAft>
              <a:buSzPts val="1800"/>
              <a:buChar char="-"/>
            </a:pPr>
            <a:r>
              <a:rPr lang="en"/>
              <a:t>Apply same regularization across all instruments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Results in degradation of separation quality</a:t>
            </a:r>
            <a:endParaRPr/>
          </a:p>
          <a:p>
            <a:pPr indent="-342900" lvl="0" marL="457200" rtl="0" algn="l">
              <a:spcBef>
                <a:spcPts val="1200"/>
              </a:spcBef>
              <a:spcAft>
                <a:spcPts val="0"/>
              </a:spcAft>
              <a:buSzPts val="1800"/>
              <a:buChar char="-"/>
            </a:pPr>
            <a:r>
              <a:rPr lang="en"/>
              <a:t>vocals get collapsed under penalties</a:t>
            </a:r>
            <a:endParaRPr/>
          </a:p>
          <a:p>
            <a:pPr indent="-342900" lvl="0" marL="457200" rtl="0" algn="l">
              <a:spcBef>
                <a:spcPts val="0"/>
              </a:spcBef>
              <a:spcAft>
                <a:spcPts val="0"/>
              </a:spcAft>
              <a:buSzPts val="1800"/>
              <a:buChar char="-"/>
            </a:pPr>
            <a:r>
              <a:rPr lang="en"/>
              <a:t>energy leakage to </a:t>
            </a:r>
            <a:r>
              <a:rPr lang="en"/>
              <a:t>unpenalized</a:t>
            </a:r>
            <a:r>
              <a:rPr lang="en"/>
              <a:t> portions </a:t>
            </a:r>
            <a:br>
              <a:rPr lang="en"/>
            </a:br>
            <a:r>
              <a:rPr lang="en"/>
              <a:t>of basis matrix</a:t>
            </a:r>
            <a:endParaRPr/>
          </a:p>
        </p:txBody>
      </p:sp>
      <p:sp>
        <p:nvSpPr>
          <p:cNvPr id="114" name="Google Shape;11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Possible Solutions to Independence Problem</a:t>
            </a:r>
            <a:endParaRPr/>
          </a:p>
        </p:txBody>
      </p:sp>
      <p:pic>
        <p:nvPicPr>
          <p:cNvPr id="115" name="Google Shape;115;p21"/>
          <p:cNvPicPr preferRelativeResize="0"/>
          <p:nvPr/>
        </p:nvPicPr>
        <p:blipFill>
          <a:blip r:embed="rId3">
            <a:alphaModFix/>
          </a:blip>
          <a:stretch>
            <a:fillRect/>
          </a:stretch>
        </p:blipFill>
        <p:spPr>
          <a:xfrm>
            <a:off x="4811175" y="1529837"/>
            <a:ext cx="4021124" cy="26775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ph idx="1" type="body"/>
          </p:nvPr>
        </p:nvSpPr>
        <p:spPr>
          <a:xfrm>
            <a:off x="311700" y="1132325"/>
            <a:ext cx="4904400" cy="34860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1300"/>
              <a:t>Modified Tjoa’s </a:t>
            </a:r>
            <a:r>
              <a:rPr lang="en" sz="1300"/>
              <a:t>HARMONIC VARIABLE-SIZE DICTIONARY LEARNING</a:t>
            </a:r>
            <a:endParaRPr sz="1300"/>
          </a:p>
          <a:p>
            <a:pPr indent="0" lvl="0" marL="0" rtl="0" algn="l">
              <a:lnSpc>
                <a:spcPct val="100000"/>
              </a:lnSpc>
              <a:spcBef>
                <a:spcPts val="0"/>
              </a:spcBef>
              <a:spcAft>
                <a:spcPts val="0"/>
              </a:spcAft>
              <a:buNone/>
            </a:pPr>
            <a:r>
              <a:rPr lang="en" sz="1300"/>
              <a:t> </a:t>
            </a:r>
            <a:endParaRPr sz="1300"/>
          </a:p>
          <a:p>
            <a:pPr indent="0" lvl="0" marL="457200" rtl="0" algn="l">
              <a:lnSpc>
                <a:spcPct val="100000"/>
              </a:lnSpc>
              <a:spcBef>
                <a:spcPts val="0"/>
              </a:spcBef>
              <a:spcAft>
                <a:spcPts val="0"/>
              </a:spcAft>
              <a:buNone/>
            </a:pPr>
            <a:r>
              <a:rPr lang="en" sz="1300"/>
              <a:t>Two layered dictionary </a:t>
            </a:r>
            <a:endParaRPr sz="1300"/>
          </a:p>
          <a:p>
            <a:pPr indent="-311150" lvl="1" marL="914400" rtl="0" algn="l">
              <a:lnSpc>
                <a:spcPct val="100000"/>
              </a:lnSpc>
              <a:spcBef>
                <a:spcPts val="0"/>
              </a:spcBef>
              <a:spcAft>
                <a:spcPts val="0"/>
              </a:spcAft>
              <a:buSzPts val="1300"/>
              <a:buChar char="-"/>
            </a:pPr>
            <a:r>
              <a:rPr lang="en" sz="1300"/>
              <a:t>Utilize K-SVD to + comb filtering to enforce harmonic constraints</a:t>
            </a:r>
            <a:endParaRPr sz="1300"/>
          </a:p>
          <a:p>
            <a:pPr indent="-311150" lvl="1" marL="914400" rtl="0" algn="l">
              <a:lnSpc>
                <a:spcPct val="100000"/>
              </a:lnSpc>
              <a:spcBef>
                <a:spcPts val="0"/>
              </a:spcBef>
              <a:spcAft>
                <a:spcPts val="0"/>
              </a:spcAft>
              <a:buSzPts val="1300"/>
              <a:buChar char="-"/>
            </a:pPr>
            <a:r>
              <a:rPr lang="en" sz="1300"/>
              <a:t>Atom made out of 1 pitch /Atom</a:t>
            </a:r>
            <a:endParaRPr sz="1300"/>
          </a:p>
          <a:p>
            <a:pPr indent="0" lvl="0" marL="0" rtl="0" algn="l">
              <a:lnSpc>
                <a:spcPct val="100000"/>
              </a:lnSpc>
              <a:spcBef>
                <a:spcPts val="0"/>
              </a:spcBef>
              <a:spcAft>
                <a:spcPts val="0"/>
              </a:spcAft>
              <a:buNone/>
            </a:pPr>
            <a:r>
              <a:t/>
            </a:r>
            <a:endParaRPr sz="1300"/>
          </a:p>
          <a:p>
            <a:pPr indent="0" lvl="0" marL="914400" rtl="0" algn="l">
              <a:lnSpc>
                <a:spcPct val="100000"/>
              </a:lnSpc>
              <a:spcBef>
                <a:spcPts val="0"/>
              </a:spcBef>
              <a:spcAft>
                <a:spcPts val="0"/>
              </a:spcAft>
              <a:buNone/>
            </a:pPr>
            <a:r>
              <a:t/>
            </a:r>
            <a:endParaRPr sz="1300"/>
          </a:p>
          <a:p>
            <a:pPr indent="457200" lvl="0" marL="0" rtl="0" algn="l">
              <a:lnSpc>
                <a:spcPct val="100000"/>
              </a:lnSpc>
              <a:spcBef>
                <a:spcPts val="0"/>
              </a:spcBef>
              <a:spcAft>
                <a:spcPts val="0"/>
              </a:spcAft>
              <a:buNone/>
            </a:pPr>
            <a:r>
              <a:rPr lang="en" sz="1300" u="sng"/>
              <a:t>Layer 1</a:t>
            </a:r>
            <a:r>
              <a:rPr lang="en" sz="1300"/>
              <a:t>: single pure frequency + their overtones</a:t>
            </a:r>
            <a:endParaRPr sz="1300"/>
          </a:p>
          <a:p>
            <a:pPr indent="457200" lvl="0" marL="0" rtl="0" algn="l">
              <a:lnSpc>
                <a:spcPct val="100000"/>
              </a:lnSpc>
              <a:spcBef>
                <a:spcPts val="0"/>
              </a:spcBef>
              <a:spcAft>
                <a:spcPts val="0"/>
              </a:spcAft>
              <a:buNone/>
            </a:pPr>
            <a:r>
              <a:t/>
            </a:r>
            <a:endParaRPr sz="1300"/>
          </a:p>
          <a:p>
            <a:pPr indent="457200" lvl="0" marL="0" rtl="0" algn="l">
              <a:lnSpc>
                <a:spcPct val="100000"/>
              </a:lnSpc>
              <a:spcBef>
                <a:spcPts val="0"/>
              </a:spcBef>
              <a:spcAft>
                <a:spcPts val="0"/>
              </a:spcAft>
              <a:buNone/>
            </a:pPr>
            <a:r>
              <a:rPr lang="en" sz="1300" u="sng"/>
              <a:t>Layer 2</a:t>
            </a:r>
            <a:r>
              <a:rPr lang="en" sz="1300"/>
              <a:t>: MFCC Coefficient of layer 1 </a:t>
            </a:r>
            <a:endParaRPr sz="1300"/>
          </a:p>
          <a:p>
            <a:pPr indent="0" lvl="0" marL="914400" rtl="0" algn="l">
              <a:lnSpc>
                <a:spcPct val="100000"/>
              </a:lnSpc>
              <a:spcBef>
                <a:spcPts val="0"/>
              </a:spcBef>
              <a:spcAft>
                <a:spcPts val="0"/>
              </a:spcAft>
              <a:buNone/>
            </a:pPr>
            <a:r>
              <a:rPr lang="en" sz="1300"/>
              <a:t>MFCC (Mel Frequency Cepstral Coefficient)</a:t>
            </a:r>
            <a:endParaRPr sz="1300"/>
          </a:p>
          <a:p>
            <a:pPr indent="-311150" lvl="2" marL="1371600" rtl="0" algn="l">
              <a:lnSpc>
                <a:spcPct val="100000"/>
              </a:lnSpc>
              <a:spcBef>
                <a:spcPts val="0"/>
              </a:spcBef>
              <a:spcAft>
                <a:spcPts val="0"/>
              </a:spcAft>
              <a:buSzPts val="1300"/>
              <a:buChar char="-"/>
            </a:pPr>
            <a:r>
              <a:rPr lang="en" sz="1300"/>
              <a:t>Typical 14-20 coefficients that describes a sound’s Spectral Envelope, or timbre. </a:t>
            </a:r>
            <a:endParaRPr sz="2000"/>
          </a:p>
        </p:txBody>
      </p:sp>
      <p:sp>
        <p:nvSpPr>
          <p:cNvPr id="121" name="Google Shape;12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Our Experimentations</a:t>
            </a:r>
            <a:endParaRPr/>
          </a:p>
        </p:txBody>
      </p:sp>
      <p:pic>
        <p:nvPicPr>
          <p:cNvPr id="122" name="Google Shape;122;p22" title="Screenshot 2026-05-03 at 2.33.56 PM.png"/>
          <p:cNvPicPr preferRelativeResize="0"/>
          <p:nvPr/>
        </p:nvPicPr>
        <p:blipFill>
          <a:blip r:embed="rId3">
            <a:alphaModFix/>
          </a:blip>
          <a:stretch>
            <a:fillRect/>
          </a:stretch>
        </p:blipFill>
        <p:spPr>
          <a:xfrm>
            <a:off x="5065700" y="1014478"/>
            <a:ext cx="3320900" cy="31145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3"/>
          <p:cNvSpPr txBox="1"/>
          <p:nvPr>
            <p:ph type="title"/>
          </p:nvPr>
        </p:nvSpPr>
        <p:spPr>
          <a:xfrm>
            <a:off x="311700" y="2676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Our Experimentation cont. </a:t>
            </a:r>
            <a:endParaRPr/>
          </a:p>
        </p:txBody>
      </p:sp>
      <p:sp>
        <p:nvSpPr>
          <p:cNvPr id="128" name="Google Shape;128;p23"/>
          <p:cNvSpPr txBox="1"/>
          <p:nvPr>
            <p:ph idx="1" type="body"/>
          </p:nvPr>
        </p:nvSpPr>
        <p:spPr>
          <a:xfrm>
            <a:off x="311700" y="863563"/>
            <a:ext cx="46443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600"/>
              <a:t>Motivation</a:t>
            </a:r>
            <a:endParaRPr sz="1600"/>
          </a:p>
          <a:p>
            <a:pPr indent="-330200" lvl="0" marL="457200" rtl="0" algn="l">
              <a:lnSpc>
                <a:spcPct val="100000"/>
              </a:lnSpc>
              <a:spcBef>
                <a:spcPts val="0"/>
              </a:spcBef>
              <a:spcAft>
                <a:spcPts val="0"/>
              </a:spcAft>
              <a:buSzPts val="1600"/>
              <a:buChar char="-"/>
            </a:pPr>
            <a:r>
              <a:rPr lang="en" sz="1600"/>
              <a:t>Separate instruments playing identical notes simultaneous</a:t>
            </a:r>
            <a:endParaRPr sz="1600"/>
          </a:p>
          <a:p>
            <a:pPr indent="-330200" lvl="0" marL="457200" rtl="0" algn="l">
              <a:lnSpc>
                <a:spcPct val="100000"/>
              </a:lnSpc>
              <a:spcBef>
                <a:spcPts val="0"/>
              </a:spcBef>
              <a:spcAft>
                <a:spcPts val="0"/>
              </a:spcAft>
              <a:buSzPts val="1600"/>
              <a:buChar char="-"/>
            </a:pPr>
            <a:r>
              <a:rPr lang="en" sz="1600"/>
              <a:t>Differentiate by timbre when pitche alone fails. </a:t>
            </a:r>
            <a:endParaRPr sz="1600"/>
          </a:p>
          <a:p>
            <a:pPr indent="0" lvl="0" marL="0" rtl="0" algn="l">
              <a:lnSpc>
                <a:spcPct val="100000"/>
              </a:lnSpc>
              <a:spcBef>
                <a:spcPts val="0"/>
              </a:spcBef>
              <a:spcAft>
                <a:spcPts val="0"/>
              </a:spcAft>
              <a:buClr>
                <a:schemeClr val="dk1"/>
              </a:buClr>
              <a:buSzPts val="1100"/>
              <a:buFont typeface="Arial"/>
              <a:buNone/>
            </a:pPr>
            <a:r>
              <a:rPr lang="en" sz="1600"/>
              <a:t>	</a:t>
            </a:r>
            <a:endParaRPr sz="1600"/>
          </a:p>
          <a:p>
            <a:pPr indent="0" lvl="0" marL="0" rtl="0" algn="l">
              <a:lnSpc>
                <a:spcPct val="100000"/>
              </a:lnSpc>
              <a:spcBef>
                <a:spcPts val="0"/>
              </a:spcBef>
              <a:spcAft>
                <a:spcPts val="0"/>
              </a:spcAft>
              <a:buClr>
                <a:schemeClr val="dk1"/>
              </a:buClr>
              <a:buSzPts val="1100"/>
              <a:buFont typeface="Arial"/>
              <a:buNone/>
            </a:pPr>
            <a:r>
              <a:t/>
            </a:r>
            <a:endParaRPr sz="1600"/>
          </a:p>
          <a:p>
            <a:pPr indent="0" lvl="0" marL="0" rtl="0" algn="l">
              <a:lnSpc>
                <a:spcPct val="100000"/>
              </a:lnSpc>
              <a:spcBef>
                <a:spcPts val="0"/>
              </a:spcBef>
              <a:spcAft>
                <a:spcPts val="0"/>
              </a:spcAft>
              <a:buClr>
                <a:schemeClr val="dk1"/>
              </a:buClr>
              <a:buSzPts val="1100"/>
              <a:buFont typeface="Arial"/>
              <a:buNone/>
            </a:pPr>
            <a:r>
              <a:rPr lang="en" sz="1600"/>
              <a:t>Key Limitation </a:t>
            </a:r>
            <a:endParaRPr sz="1600"/>
          </a:p>
          <a:p>
            <a:pPr indent="-330200" lvl="0" marL="457200" rtl="0" algn="l">
              <a:lnSpc>
                <a:spcPct val="100000"/>
              </a:lnSpc>
              <a:spcBef>
                <a:spcPts val="0"/>
              </a:spcBef>
              <a:spcAft>
                <a:spcPts val="0"/>
              </a:spcAft>
              <a:buSzPts val="1600"/>
              <a:buChar char="-"/>
            </a:pPr>
            <a:r>
              <a:rPr lang="en" sz="1600"/>
              <a:t>MFCC requires temporal context to be useful </a:t>
            </a:r>
            <a:endParaRPr sz="1600"/>
          </a:p>
          <a:p>
            <a:pPr indent="-330200" lvl="0" marL="457200" rtl="0" algn="l">
              <a:lnSpc>
                <a:spcPct val="100000"/>
              </a:lnSpc>
              <a:spcBef>
                <a:spcPts val="0"/>
              </a:spcBef>
              <a:spcAft>
                <a:spcPts val="0"/>
              </a:spcAft>
              <a:buSzPts val="1600"/>
              <a:buChar char="-"/>
            </a:pPr>
            <a:r>
              <a:rPr lang="en" sz="1600"/>
              <a:t>Single-frame atom lacks interpretable timbre information. </a:t>
            </a:r>
            <a:endParaRPr sz="1600"/>
          </a:p>
          <a:p>
            <a:pPr indent="-330200" lvl="0" marL="457200" rtl="0" algn="l">
              <a:lnSpc>
                <a:spcPct val="100000"/>
              </a:lnSpc>
              <a:spcBef>
                <a:spcPts val="0"/>
              </a:spcBef>
              <a:spcAft>
                <a:spcPts val="0"/>
              </a:spcAft>
              <a:buSzPts val="1600"/>
              <a:buChar char="-"/>
            </a:pPr>
            <a:r>
              <a:rPr lang="en" sz="1600"/>
              <a:t>Tjoa’s dictionary requires shared assignments with soft/probabilistic assignments. </a:t>
            </a:r>
            <a:endParaRPr sz="1600"/>
          </a:p>
          <a:p>
            <a:pPr indent="0" lvl="0" marL="914400" rtl="0" algn="l">
              <a:lnSpc>
                <a:spcPct val="100000"/>
              </a:lnSpc>
              <a:spcBef>
                <a:spcPts val="0"/>
              </a:spcBef>
              <a:spcAft>
                <a:spcPts val="0"/>
              </a:spcAft>
              <a:buClr>
                <a:schemeClr val="dk1"/>
              </a:buClr>
              <a:buSzPts val="1100"/>
              <a:buFont typeface="Arial"/>
              <a:buNone/>
            </a:pPr>
            <a:r>
              <a:t/>
            </a:r>
            <a:endParaRPr sz="1600"/>
          </a:p>
          <a:p>
            <a:pPr indent="0" lvl="0" marL="457200" rtl="0" algn="l">
              <a:lnSpc>
                <a:spcPct val="100000"/>
              </a:lnSpc>
              <a:spcBef>
                <a:spcPts val="0"/>
              </a:spcBef>
              <a:spcAft>
                <a:spcPts val="0"/>
              </a:spcAft>
              <a:buNone/>
            </a:pPr>
            <a:r>
              <a:t/>
            </a:r>
            <a:endParaRPr sz="1600"/>
          </a:p>
        </p:txBody>
      </p:sp>
      <p:pic>
        <p:nvPicPr>
          <p:cNvPr id="129" name="Google Shape;129;p23" title="Screenshot 2026-05-03 at 2.05.37 PM.png"/>
          <p:cNvPicPr preferRelativeResize="0"/>
          <p:nvPr/>
        </p:nvPicPr>
        <p:blipFill>
          <a:blip r:embed="rId3">
            <a:alphaModFix/>
          </a:blip>
          <a:stretch>
            <a:fillRect/>
          </a:stretch>
        </p:blipFill>
        <p:spPr>
          <a:xfrm>
            <a:off x="5337975" y="661263"/>
            <a:ext cx="2932245" cy="38209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4"/>
          <p:cNvSpPr txBox="1"/>
          <p:nvPr>
            <p:ph type="title"/>
          </p:nvPr>
        </p:nvSpPr>
        <p:spPr>
          <a:xfrm>
            <a:off x="311700" y="408450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OUR APPROACH </a:t>
            </a:r>
            <a:endParaRPr/>
          </a:p>
        </p:txBody>
      </p:sp>
      <p:pic>
        <p:nvPicPr>
          <p:cNvPr id="135" name="Google Shape;135;p24"/>
          <p:cNvPicPr preferRelativeResize="0"/>
          <p:nvPr/>
        </p:nvPicPr>
        <p:blipFill>
          <a:blip r:embed="rId3">
            <a:alphaModFix/>
          </a:blip>
          <a:stretch>
            <a:fillRect/>
          </a:stretch>
        </p:blipFill>
        <p:spPr>
          <a:xfrm>
            <a:off x="1375325" y="488250"/>
            <a:ext cx="6393350" cy="35962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Intuition</a:t>
            </a:r>
            <a:r>
              <a:rPr lang="en"/>
              <a:t>:</a:t>
            </a:r>
            <a:endParaRPr/>
          </a:p>
        </p:txBody>
      </p:sp>
      <p:sp>
        <p:nvSpPr>
          <p:cNvPr id="141" name="Google Shape;141;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instrument-specific, decoupled regularization for their properties</a:t>
            </a:r>
            <a:endParaRPr/>
          </a:p>
          <a:p>
            <a:pPr indent="-342900" lvl="0" marL="457200" rtl="0" algn="l">
              <a:spcBef>
                <a:spcPts val="0"/>
              </a:spcBef>
              <a:spcAft>
                <a:spcPts val="0"/>
              </a:spcAft>
              <a:buSzPts val="1800"/>
              <a:buChar char="-"/>
            </a:pPr>
            <a:r>
              <a:rPr lang="en"/>
              <a:t>conceptual reasoning: </a:t>
            </a:r>
            <a:endParaRPr/>
          </a:p>
          <a:p>
            <a:pPr indent="-342900" lvl="1" marL="914400" rtl="0" algn="l">
              <a:spcBef>
                <a:spcPts val="0"/>
              </a:spcBef>
              <a:spcAft>
                <a:spcPts val="0"/>
              </a:spcAft>
              <a:buSzPts val="1800"/>
              <a:buChar char="-"/>
            </a:pPr>
            <a:r>
              <a:rPr lang="en" sz="1800"/>
              <a:t>drums transients are fast, abrupt and loud</a:t>
            </a:r>
            <a:endParaRPr sz="1800"/>
          </a:p>
          <a:p>
            <a:pPr indent="-342900" lvl="1" marL="914400" rtl="0" algn="l">
              <a:spcBef>
                <a:spcPts val="0"/>
              </a:spcBef>
              <a:spcAft>
                <a:spcPts val="0"/>
              </a:spcAft>
              <a:buSzPts val="1800"/>
              <a:buChar char="-"/>
            </a:pPr>
            <a:r>
              <a:rPr lang="en" sz="1800"/>
              <a:t>bass is low frequency and often </a:t>
            </a:r>
            <a:r>
              <a:rPr lang="en" sz="1800"/>
              <a:t>continuous.</a:t>
            </a:r>
            <a:endParaRPr sz="1800"/>
          </a:p>
          <a:p>
            <a:pPr indent="-342900" lvl="1" marL="914400" rtl="0" algn="l">
              <a:spcBef>
                <a:spcPts val="0"/>
              </a:spcBef>
              <a:spcAft>
                <a:spcPts val="0"/>
              </a:spcAft>
              <a:buSzPts val="1800"/>
              <a:buChar char="-"/>
            </a:pPr>
            <a:r>
              <a:rPr lang="en" sz="1800"/>
              <a:t>vocals have a ton of variability in texture and timbre</a:t>
            </a:r>
            <a:endParaRPr sz="1800"/>
          </a:p>
          <a:p>
            <a:pPr indent="-342900" lvl="1" marL="914400" rtl="0" algn="l">
              <a:spcBef>
                <a:spcPts val="0"/>
              </a:spcBef>
              <a:spcAft>
                <a:spcPts val="0"/>
              </a:spcAft>
              <a:buSzPts val="1800"/>
              <a:buChar char="-"/>
            </a:pPr>
            <a:r>
              <a:rPr lang="en" sz="1800"/>
              <a:t>other is complex and lots of variations</a:t>
            </a:r>
            <a:endParaRPr sz="1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Decoupling NMF for Source </a:t>
            </a:r>
            <a:r>
              <a:rPr lang="en"/>
              <a:t>Separation</a:t>
            </a:r>
            <a:endParaRPr/>
          </a:p>
        </p:txBody>
      </p:sp>
      <p:sp>
        <p:nvSpPr>
          <p:cNvPr id="147" name="Google Shape;147;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 Representation for NMF’s Structure:</a:t>
            </a:r>
            <a:endParaRPr/>
          </a:p>
          <a:p>
            <a:pPr indent="0" lvl="0" marL="0" rtl="0" algn="l">
              <a:spcBef>
                <a:spcPts val="1200"/>
              </a:spcBef>
              <a:spcAft>
                <a:spcPts val="1200"/>
              </a:spcAft>
              <a:buNone/>
            </a:pPr>
            <a:r>
              <a:rPr lang="en"/>
              <a:t>Convert time-domain audio to time-frequency with Short-Time Fourier Transform</a:t>
            </a:r>
            <a:endParaRPr/>
          </a:p>
        </p:txBody>
      </p:sp>
      <p:pic>
        <p:nvPicPr>
          <p:cNvPr id="148" name="Google Shape;148;p26" title="Screenshot 2026-05-03 at 2.46.14 PM.png"/>
          <p:cNvPicPr preferRelativeResize="0"/>
          <p:nvPr/>
        </p:nvPicPr>
        <p:blipFill>
          <a:blip r:embed="rId3">
            <a:alphaModFix/>
          </a:blip>
          <a:stretch>
            <a:fillRect/>
          </a:stretch>
        </p:blipFill>
        <p:spPr>
          <a:xfrm>
            <a:off x="311700" y="2435275"/>
            <a:ext cx="4953000" cy="2133600"/>
          </a:xfrm>
          <a:prstGeom prst="rect">
            <a:avLst/>
          </a:prstGeom>
          <a:noFill/>
          <a:ln>
            <a:noFill/>
          </a:ln>
        </p:spPr>
      </p:pic>
      <p:pic>
        <p:nvPicPr>
          <p:cNvPr id="149" name="Google Shape;149;p26" title="Screenshot 2026-05-03 at 2.48.10 PM.png"/>
          <p:cNvPicPr preferRelativeResize="0"/>
          <p:nvPr/>
        </p:nvPicPr>
        <p:blipFill>
          <a:blip r:embed="rId4">
            <a:alphaModFix/>
          </a:blip>
          <a:stretch>
            <a:fillRect/>
          </a:stretch>
        </p:blipFill>
        <p:spPr>
          <a:xfrm>
            <a:off x="5155650" y="2908932"/>
            <a:ext cx="3676650" cy="1009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Data Representation for NMF’s Structure:</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V is original </a:t>
            </a:r>
            <a:r>
              <a:rPr lang="en"/>
              <a:t>magnitude</a:t>
            </a:r>
            <a:r>
              <a:rPr lang="en"/>
              <a:t> of spectrogram</a:t>
            </a:r>
            <a:endParaRPr/>
          </a:p>
          <a:p>
            <a:pPr indent="0" lvl="0" marL="0" rtl="0" algn="l">
              <a:spcBef>
                <a:spcPts val="1200"/>
              </a:spcBef>
              <a:spcAft>
                <a:spcPts val="0"/>
              </a:spcAft>
              <a:buNone/>
            </a:pPr>
            <a:r>
              <a:rPr lang="en"/>
              <a:t>B is basis matrix</a:t>
            </a:r>
            <a:endParaRPr/>
          </a:p>
          <a:p>
            <a:pPr indent="0" lvl="0" marL="0" rtl="0" algn="l">
              <a:spcBef>
                <a:spcPts val="1200"/>
              </a:spcBef>
              <a:spcAft>
                <a:spcPts val="1200"/>
              </a:spcAft>
              <a:buNone/>
            </a:pPr>
            <a:r>
              <a:rPr lang="en"/>
              <a:t>W is weight matrix</a:t>
            </a:r>
            <a:endParaRPr/>
          </a:p>
        </p:txBody>
      </p:sp>
      <p:sp>
        <p:nvSpPr>
          <p:cNvPr id="155" name="Google Shape;155;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Decoupling NMF for Source </a:t>
            </a:r>
            <a:r>
              <a:rPr lang="en"/>
              <a:t>Separation</a:t>
            </a:r>
            <a:endParaRPr/>
          </a:p>
        </p:txBody>
      </p:sp>
      <p:sp>
        <p:nvSpPr>
          <p:cNvPr id="156" name="Google Shape;156;p27"/>
          <p:cNvSpPr txBox="1"/>
          <p:nvPr/>
        </p:nvSpPr>
        <p:spPr>
          <a:xfrm>
            <a:off x="2980200" y="2199150"/>
            <a:ext cx="3183600" cy="74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sz="3400">
                <a:solidFill>
                  <a:schemeClr val="dk1"/>
                </a:solidFill>
                <a:latin typeface="Triodion"/>
                <a:ea typeface="Triodion"/>
                <a:cs typeface="Triodion"/>
                <a:sym typeface="Triodion"/>
              </a:rPr>
              <a:t>V ≈ BW</a:t>
            </a:r>
            <a:endParaRPr i="1" sz="3400">
              <a:solidFill>
                <a:schemeClr val="dk1"/>
              </a:solidFill>
              <a:latin typeface="Triodion"/>
              <a:ea typeface="Triodion"/>
              <a:cs typeface="Triodion"/>
              <a:sym typeface="Triodio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8"/>
          <p:cNvSpPr/>
          <p:nvPr/>
        </p:nvSpPr>
        <p:spPr>
          <a:xfrm>
            <a:off x="421798" y="1973846"/>
            <a:ext cx="8300400" cy="2768100"/>
          </a:xfrm>
          <a:prstGeom prst="roundRect">
            <a:avLst>
              <a:gd fmla="val 5487" name="adj"/>
            </a:avLst>
          </a:prstGeom>
          <a:noFill/>
          <a:ln cap="flat" cmpd="sng" w="38525">
            <a:solidFill>
              <a:schemeClr val="dk1"/>
            </a:solidFill>
            <a:prstDash val="solid"/>
            <a:round/>
            <a:headEnd len="sm" w="sm" type="none"/>
            <a:tailEnd len="sm" w="sm" type="none"/>
          </a:ln>
        </p:spPr>
        <p:txBody>
          <a:bodyPr anchorCtr="0" anchor="ctr" bIns="92425" lIns="92425" spcFirstLastPara="1" rIns="92425" wrap="square" tIns="92425">
            <a:noAutofit/>
          </a:bodyPr>
          <a:lstStyle/>
          <a:p>
            <a:pPr indent="0" lvl="0" marL="0" rtl="0" algn="ctr">
              <a:spcBef>
                <a:spcPts val="0"/>
              </a:spcBef>
              <a:spcAft>
                <a:spcPts val="0"/>
              </a:spcAft>
              <a:buNone/>
            </a:pPr>
            <a:r>
              <a:t/>
            </a:r>
            <a:endParaRPr sz="1415">
              <a:latin typeface="Triodion"/>
              <a:ea typeface="Triodion"/>
              <a:cs typeface="Triodion"/>
              <a:sym typeface="Triodion"/>
            </a:endParaRPr>
          </a:p>
        </p:txBody>
      </p:sp>
      <p:sp>
        <p:nvSpPr>
          <p:cNvPr id="162" name="Google Shape;162;p28"/>
          <p:cNvSpPr/>
          <p:nvPr/>
        </p:nvSpPr>
        <p:spPr>
          <a:xfrm>
            <a:off x="726150" y="1786200"/>
            <a:ext cx="7691700" cy="3143400"/>
          </a:xfrm>
          <a:prstGeom prst="rect">
            <a:avLst/>
          </a:prstGeom>
          <a:solidFill>
            <a:schemeClr val="lt1"/>
          </a:solidFill>
          <a:ln>
            <a:noFill/>
          </a:ln>
        </p:spPr>
        <p:txBody>
          <a:bodyPr anchorCtr="0" anchor="ctr" bIns="92425" lIns="92425" spcFirstLastPara="1" rIns="92425" wrap="square" tIns="92425">
            <a:noAutofit/>
          </a:bodyPr>
          <a:lstStyle/>
          <a:p>
            <a:pPr indent="0" lvl="0" marL="0" rtl="0" algn="ctr">
              <a:spcBef>
                <a:spcPts val="0"/>
              </a:spcBef>
              <a:spcAft>
                <a:spcPts val="0"/>
              </a:spcAft>
              <a:buNone/>
            </a:pPr>
            <a:r>
              <a:t/>
            </a:r>
            <a:endParaRPr b="1" sz="1415">
              <a:latin typeface="Triodion"/>
              <a:ea typeface="Triodion"/>
              <a:cs typeface="Triodion"/>
              <a:sym typeface="Triodion"/>
            </a:endParaRPr>
          </a:p>
        </p:txBody>
      </p:sp>
      <p:sp>
        <p:nvSpPr>
          <p:cNvPr id="163" name="Google Shape;163;p28"/>
          <p:cNvSpPr/>
          <p:nvPr/>
        </p:nvSpPr>
        <p:spPr>
          <a:xfrm>
            <a:off x="767225" y="2367059"/>
            <a:ext cx="1572600" cy="1981500"/>
          </a:xfrm>
          <a:prstGeom prst="roundRect">
            <a:avLst>
              <a:gd fmla="val 5487" name="adj"/>
            </a:avLst>
          </a:prstGeom>
          <a:noFill/>
          <a:ln cap="flat" cmpd="sng" w="38525">
            <a:solidFill>
              <a:schemeClr val="dk1"/>
            </a:solidFill>
            <a:prstDash val="solid"/>
            <a:round/>
            <a:headEnd len="sm" w="sm" type="none"/>
            <a:tailEnd len="sm" w="sm" type="none"/>
          </a:ln>
        </p:spPr>
        <p:txBody>
          <a:bodyPr anchorCtr="0" anchor="ctr" bIns="92425" lIns="92425" spcFirstLastPara="1" rIns="92425" wrap="square" tIns="92425">
            <a:noAutofit/>
          </a:bodyPr>
          <a:lstStyle/>
          <a:p>
            <a:pPr indent="0" lvl="0" marL="0" rtl="0" algn="ctr">
              <a:spcBef>
                <a:spcPts val="0"/>
              </a:spcBef>
              <a:spcAft>
                <a:spcPts val="0"/>
              </a:spcAft>
              <a:buNone/>
            </a:pPr>
            <a:r>
              <a:t/>
            </a:r>
            <a:endParaRPr sz="1415">
              <a:latin typeface="Triodion"/>
              <a:ea typeface="Triodion"/>
              <a:cs typeface="Triodion"/>
              <a:sym typeface="Triodion"/>
            </a:endParaRPr>
          </a:p>
        </p:txBody>
      </p:sp>
      <p:sp>
        <p:nvSpPr>
          <p:cNvPr id="164" name="Google Shape;164;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Finding Basis Matrix</a:t>
            </a:r>
            <a:endParaRPr/>
          </a:p>
        </p:txBody>
      </p:sp>
      <p:sp>
        <p:nvSpPr>
          <p:cNvPr id="165" name="Google Shape;165;p28"/>
          <p:cNvSpPr/>
          <p:nvPr/>
        </p:nvSpPr>
        <p:spPr>
          <a:xfrm>
            <a:off x="1054893" y="2181601"/>
            <a:ext cx="997200" cy="2352600"/>
          </a:xfrm>
          <a:prstGeom prst="rect">
            <a:avLst/>
          </a:prstGeom>
          <a:solidFill>
            <a:schemeClr val="lt1"/>
          </a:solidFill>
          <a:ln>
            <a:noFill/>
          </a:ln>
        </p:spPr>
        <p:txBody>
          <a:bodyPr anchorCtr="0" anchor="ctr" bIns="92425" lIns="92425" spcFirstLastPara="1" rIns="92425" wrap="square" tIns="92425">
            <a:noAutofit/>
          </a:bodyPr>
          <a:lstStyle/>
          <a:p>
            <a:pPr indent="0" lvl="0" marL="0" rtl="0" algn="ctr">
              <a:spcBef>
                <a:spcPts val="0"/>
              </a:spcBef>
              <a:spcAft>
                <a:spcPts val="0"/>
              </a:spcAft>
              <a:buNone/>
            </a:pPr>
            <a:r>
              <a:rPr b="1" lang="en" sz="1415">
                <a:latin typeface="Triodion"/>
                <a:ea typeface="Triodion"/>
                <a:cs typeface="Triodion"/>
                <a:sym typeface="Triodion"/>
              </a:rPr>
              <a:t>B</a:t>
            </a:r>
            <a:endParaRPr b="1" sz="1415">
              <a:latin typeface="Triodion"/>
              <a:ea typeface="Triodion"/>
              <a:cs typeface="Triodion"/>
              <a:sym typeface="Triodion"/>
            </a:endParaRPr>
          </a:p>
          <a:p>
            <a:pPr indent="0" lvl="0" marL="0" rtl="0" algn="ctr">
              <a:spcBef>
                <a:spcPts val="0"/>
              </a:spcBef>
              <a:spcAft>
                <a:spcPts val="0"/>
              </a:spcAft>
              <a:buNone/>
            </a:pPr>
            <a:r>
              <a:rPr b="1" lang="en" sz="1415">
                <a:latin typeface="Triodion"/>
                <a:ea typeface="Triodion"/>
                <a:cs typeface="Triodion"/>
                <a:sym typeface="Triodion"/>
              </a:rPr>
              <a:t>Drums</a:t>
            </a:r>
            <a:endParaRPr b="1" sz="1415">
              <a:latin typeface="Triodion"/>
              <a:ea typeface="Triodion"/>
              <a:cs typeface="Triodion"/>
              <a:sym typeface="Triodion"/>
            </a:endParaRPr>
          </a:p>
        </p:txBody>
      </p:sp>
      <p:sp>
        <p:nvSpPr>
          <p:cNvPr id="166" name="Google Shape;166;p28"/>
          <p:cNvSpPr/>
          <p:nvPr/>
        </p:nvSpPr>
        <p:spPr>
          <a:xfrm>
            <a:off x="2779553" y="2367045"/>
            <a:ext cx="1572600" cy="1981500"/>
          </a:xfrm>
          <a:prstGeom prst="roundRect">
            <a:avLst>
              <a:gd fmla="val 5487" name="adj"/>
            </a:avLst>
          </a:prstGeom>
          <a:noFill/>
          <a:ln cap="flat" cmpd="sng" w="38525">
            <a:solidFill>
              <a:schemeClr val="dk1"/>
            </a:solidFill>
            <a:prstDash val="solid"/>
            <a:round/>
            <a:headEnd len="sm" w="sm" type="none"/>
            <a:tailEnd len="sm" w="sm" type="none"/>
          </a:ln>
        </p:spPr>
        <p:txBody>
          <a:bodyPr anchorCtr="0" anchor="ctr" bIns="92425" lIns="92425" spcFirstLastPara="1" rIns="92425" wrap="square" tIns="92425">
            <a:noAutofit/>
          </a:bodyPr>
          <a:lstStyle/>
          <a:p>
            <a:pPr indent="0" lvl="0" marL="0" rtl="0" algn="ctr">
              <a:spcBef>
                <a:spcPts val="0"/>
              </a:spcBef>
              <a:spcAft>
                <a:spcPts val="0"/>
              </a:spcAft>
              <a:buNone/>
            </a:pPr>
            <a:r>
              <a:t/>
            </a:r>
            <a:endParaRPr sz="1415">
              <a:latin typeface="Triodion"/>
              <a:ea typeface="Triodion"/>
              <a:cs typeface="Triodion"/>
              <a:sym typeface="Triodion"/>
            </a:endParaRPr>
          </a:p>
        </p:txBody>
      </p:sp>
      <p:sp>
        <p:nvSpPr>
          <p:cNvPr id="167" name="Google Shape;167;p28"/>
          <p:cNvSpPr/>
          <p:nvPr/>
        </p:nvSpPr>
        <p:spPr>
          <a:xfrm>
            <a:off x="3067290" y="2181610"/>
            <a:ext cx="997200" cy="2352600"/>
          </a:xfrm>
          <a:prstGeom prst="rect">
            <a:avLst/>
          </a:prstGeom>
          <a:solidFill>
            <a:schemeClr val="lt1"/>
          </a:solidFill>
          <a:ln>
            <a:noFill/>
          </a:ln>
        </p:spPr>
        <p:txBody>
          <a:bodyPr anchorCtr="0" anchor="ctr" bIns="92425" lIns="92425" spcFirstLastPara="1" rIns="92425" wrap="square" tIns="92425">
            <a:noAutofit/>
          </a:bodyPr>
          <a:lstStyle/>
          <a:p>
            <a:pPr indent="0" lvl="0" marL="0" rtl="0" algn="ctr">
              <a:spcBef>
                <a:spcPts val="0"/>
              </a:spcBef>
              <a:spcAft>
                <a:spcPts val="0"/>
              </a:spcAft>
              <a:buNone/>
            </a:pPr>
            <a:r>
              <a:rPr b="1" lang="en" sz="1415">
                <a:solidFill>
                  <a:schemeClr val="dk1"/>
                </a:solidFill>
                <a:latin typeface="Triodion"/>
                <a:ea typeface="Triodion"/>
                <a:cs typeface="Triodion"/>
                <a:sym typeface="Triodion"/>
              </a:rPr>
              <a:t>B</a:t>
            </a:r>
            <a:endParaRPr b="1" sz="1415">
              <a:solidFill>
                <a:schemeClr val="dk1"/>
              </a:solidFill>
              <a:latin typeface="Triodion"/>
              <a:ea typeface="Triodion"/>
              <a:cs typeface="Triodion"/>
              <a:sym typeface="Triodion"/>
            </a:endParaRPr>
          </a:p>
          <a:p>
            <a:pPr indent="0" lvl="0" marL="0" rtl="0" algn="ctr">
              <a:spcBef>
                <a:spcPts val="0"/>
              </a:spcBef>
              <a:spcAft>
                <a:spcPts val="0"/>
              </a:spcAft>
              <a:buNone/>
            </a:pPr>
            <a:r>
              <a:rPr b="1" lang="en" sz="1415">
                <a:solidFill>
                  <a:schemeClr val="dk1"/>
                </a:solidFill>
                <a:latin typeface="Triodion"/>
                <a:ea typeface="Triodion"/>
                <a:cs typeface="Triodion"/>
                <a:sym typeface="Triodion"/>
              </a:rPr>
              <a:t>Vocal</a:t>
            </a:r>
            <a:endParaRPr b="1" sz="1415">
              <a:latin typeface="Triodion"/>
              <a:ea typeface="Triodion"/>
              <a:cs typeface="Triodion"/>
              <a:sym typeface="Triodion"/>
            </a:endParaRPr>
          </a:p>
        </p:txBody>
      </p:sp>
      <p:sp>
        <p:nvSpPr>
          <p:cNvPr id="168" name="Google Shape;168;p28"/>
          <p:cNvSpPr/>
          <p:nvPr/>
        </p:nvSpPr>
        <p:spPr>
          <a:xfrm>
            <a:off x="4791870" y="2367059"/>
            <a:ext cx="1572600" cy="1981500"/>
          </a:xfrm>
          <a:prstGeom prst="roundRect">
            <a:avLst>
              <a:gd fmla="val 5487" name="adj"/>
            </a:avLst>
          </a:prstGeom>
          <a:noFill/>
          <a:ln cap="flat" cmpd="sng" w="38525">
            <a:solidFill>
              <a:schemeClr val="dk1"/>
            </a:solidFill>
            <a:prstDash val="solid"/>
            <a:round/>
            <a:headEnd len="sm" w="sm" type="none"/>
            <a:tailEnd len="sm" w="sm" type="none"/>
          </a:ln>
        </p:spPr>
        <p:txBody>
          <a:bodyPr anchorCtr="0" anchor="ctr" bIns="92425" lIns="92425" spcFirstLastPara="1" rIns="92425" wrap="square" tIns="92425">
            <a:noAutofit/>
          </a:bodyPr>
          <a:lstStyle/>
          <a:p>
            <a:pPr indent="0" lvl="0" marL="0" rtl="0" algn="ctr">
              <a:spcBef>
                <a:spcPts val="0"/>
              </a:spcBef>
              <a:spcAft>
                <a:spcPts val="0"/>
              </a:spcAft>
              <a:buNone/>
            </a:pPr>
            <a:r>
              <a:t/>
            </a:r>
            <a:endParaRPr sz="1415">
              <a:latin typeface="Triodion"/>
              <a:ea typeface="Triodion"/>
              <a:cs typeface="Triodion"/>
              <a:sym typeface="Triodion"/>
            </a:endParaRPr>
          </a:p>
        </p:txBody>
      </p:sp>
      <p:sp>
        <p:nvSpPr>
          <p:cNvPr id="169" name="Google Shape;169;p28"/>
          <p:cNvSpPr/>
          <p:nvPr/>
        </p:nvSpPr>
        <p:spPr>
          <a:xfrm>
            <a:off x="5079538" y="2181601"/>
            <a:ext cx="997200" cy="2352600"/>
          </a:xfrm>
          <a:prstGeom prst="rect">
            <a:avLst/>
          </a:prstGeom>
          <a:solidFill>
            <a:schemeClr val="lt1"/>
          </a:solidFill>
          <a:ln>
            <a:noFill/>
          </a:ln>
        </p:spPr>
        <p:txBody>
          <a:bodyPr anchorCtr="0" anchor="ctr" bIns="92425" lIns="92425" spcFirstLastPara="1" rIns="92425" wrap="square" tIns="92425">
            <a:noAutofit/>
          </a:bodyPr>
          <a:lstStyle/>
          <a:p>
            <a:pPr indent="0" lvl="0" marL="0" rtl="0" algn="ctr">
              <a:spcBef>
                <a:spcPts val="0"/>
              </a:spcBef>
              <a:spcAft>
                <a:spcPts val="0"/>
              </a:spcAft>
              <a:buNone/>
            </a:pPr>
            <a:r>
              <a:rPr b="1" lang="en" sz="1415">
                <a:solidFill>
                  <a:schemeClr val="dk1"/>
                </a:solidFill>
                <a:latin typeface="Triodion"/>
                <a:ea typeface="Triodion"/>
                <a:cs typeface="Triodion"/>
                <a:sym typeface="Triodion"/>
              </a:rPr>
              <a:t>B</a:t>
            </a:r>
            <a:endParaRPr b="1" sz="1415">
              <a:solidFill>
                <a:schemeClr val="dk1"/>
              </a:solidFill>
              <a:latin typeface="Triodion"/>
              <a:ea typeface="Triodion"/>
              <a:cs typeface="Triodion"/>
              <a:sym typeface="Triodion"/>
            </a:endParaRPr>
          </a:p>
          <a:p>
            <a:pPr indent="0" lvl="0" marL="0" rtl="0" algn="ctr">
              <a:spcBef>
                <a:spcPts val="0"/>
              </a:spcBef>
              <a:spcAft>
                <a:spcPts val="0"/>
              </a:spcAft>
              <a:buNone/>
            </a:pPr>
            <a:r>
              <a:rPr b="1" lang="en" sz="1415">
                <a:solidFill>
                  <a:schemeClr val="dk1"/>
                </a:solidFill>
                <a:latin typeface="Triodion"/>
                <a:ea typeface="Triodion"/>
                <a:cs typeface="Triodion"/>
                <a:sym typeface="Triodion"/>
              </a:rPr>
              <a:t>Bass</a:t>
            </a:r>
            <a:endParaRPr b="1" sz="1415">
              <a:latin typeface="Triodion"/>
              <a:ea typeface="Triodion"/>
              <a:cs typeface="Triodion"/>
              <a:sym typeface="Triodion"/>
            </a:endParaRPr>
          </a:p>
        </p:txBody>
      </p:sp>
      <p:sp>
        <p:nvSpPr>
          <p:cNvPr id="170" name="Google Shape;170;p28"/>
          <p:cNvSpPr/>
          <p:nvPr/>
        </p:nvSpPr>
        <p:spPr>
          <a:xfrm>
            <a:off x="6804186" y="2367045"/>
            <a:ext cx="1572600" cy="1981500"/>
          </a:xfrm>
          <a:prstGeom prst="roundRect">
            <a:avLst>
              <a:gd fmla="val 5487" name="adj"/>
            </a:avLst>
          </a:prstGeom>
          <a:noFill/>
          <a:ln cap="flat" cmpd="sng" w="38525">
            <a:solidFill>
              <a:schemeClr val="dk1"/>
            </a:solidFill>
            <a:prstDash val="solid"/>
            <a:round/>
            <a:headEnd len="sm" w="sm" type="none"/>
            <a:tailEnd len="sm" w="sm" type="none"/>
          </a:ln>
        </p:spPr>
        <p:txBody>
          <a:bodyPr anchorCtr="0" anchor="ctr" bIns="92425" lIns="92425" spcFirstLastPara="1" rIns="92425" wrap="square" tIns="92425">
            <a:noAutofit/>
          </a:bodyPr>
          <a:lstStyle/>
          <a:p>
            <a:pPr indent="0" lvl="0" marL="0" rtl="0" algn="ctr">
              <a:spcBef>
                <a:spcPts val="0"/>
              </a:spcBef>
              <a:spcAft>
                <a:spcPts val="0"/>
              </a:spcAft>
              <a:buNone/>
            </a:pPr>
            <a:r>
              <a:t/>
            </a:r>
            <a:endParaRPr sz="1415">
              <a:latin typeface="Triodion"/>
              <a:ea typeface="Triodion"/>
              <a:cs typeface="Triodion"/>
              <a:sym typeface="Triodion"/>
            </a:endParaRPr>
          </a:p>
        </p:txBody>
      </p:sp>
      <p:sp>
        <p:nvSpPr>
          <p:cNvPr id="171" name="Google Shape;171;p28"/>
          <p:cNvSpPr/>
          <p:nvPr/>
        </p:nvSpPr>
        <p:spPr>
          <a:xfrm>
            <a:off x="7091923" y="2181610"/>
            <a:ext cx="997200" cy="2352600"/>
          </a:xfrm>
          <a:prstGeom prst="rect">
            <a:avLst/>
          </a:prstGeom>
          <a:solidFill>
            <a:schemeClr val="lt1"/>
          </a:solidFill>
          <a:ln>
            <a:noFill/>
          </a:ln>
        </p:spPr>
        <p:txBody>
          <a:bodyPr anchorCtr="0" anchor="ctr" bIns="92425" lIns="92425" spcFirstLastPara="1" rIns="92425" wrap="square" tIns="92425">
            <a:noAutofit/>
          </a:bodyPr>
          <a:lstStyle/>
          <a:p>
            <a:pPr indent="0" lvl="0" marL="0" rtl="0" algn="ctr">
              <a:spcBef>
                <a:spcPts val="0"/>
              </a:spcBef>
              <a:spcAft>
                <a:spcPts val="0"/>
              </a:spcAft>
              <a:buNone/>
            </a:pPr>
            <a:r>
              <a:rPr b="1" lang="en" sz="1415">
                <a:solidFill>
                  <a:schemeClr val="dk1"/>
                </a:solidFill>
                <a:latin typeface="Triodion"/>
                <a:ea typeface="Triodion"/>
                <a:cs typeface="Triodion"/>
                <a:sym typeface="Triodion"/>
              </a:rPr>
              <a:t>B</a:t>
            </a:r>
            <a:endParaRPr b="1" sz="1415">
              <a:solidFill>
                <a:schemeClr val="dk1"/>
              </a:solidFill>
              <a:latin typeface="Triodion"/>
              <a:ea typeface="Triodion"/>
              <a:cs typeface="Triodion"/>
              <a:sym typeface="Triodion"/>
            </a:endParaRPr>
          </a:p>
          <a:p>
            <a:pPr indent="0" lvl="0" marL="0" rtl="0" algn="ctr">
              <a:spcBef>
                <a:spcPts val="0"/>
              </a:spcBef>
              <a:spcAft>
                <a:spcPts val="0"/>
              </a:spcAft>
              <a:buNone/>
            </a:pPr>
            <a:r>
              <a:rPr b="1" lang="en" sz="1415">
                <a:solidFill>
                  <a:schemeClr val="dk1"/>
                </a:solidFill>
                <a:latin typeface="Triodion"/>
                <a:ea typeface="Triodion"/>
                <a:cs typeface="Triodion"/>
                <a:sym typeface="Triodion"/>
              </a:rPr>
              <a:t>Other</a:t>
            </a:r>
            <a:endParaRPr b="1" sz="1415">
              <a:latin typeface="Triodion"/>
              <a:ea typeface="Triodion"/>
              <a:cs typeface="Triodion"/>
              <a:sym typeface="Triodion"/>
            </a:endParaRPr>
          </a:p>
        </p:txBody>
      </p:sp>
      <p:sp>
        <p:nvSpPr>
          <p:cNvPr id="172" name="Google Shape;172;p28"/>
          <p:cNvSpPr txBox="1"/>
          <p:nvPr/>
        </p:nvSpPr>
        <p:spPr>
          <a:xfrm>
            <a:off x="1441800" y="1637700"/>
            <a:ext cx="5805000" cy="54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Triodion"/>
                <a:ea typeface="Triodion"/>
                <a:cs typeface="Triodion"/>
                <a:sym typeface="Triodion"/>
              </a:rPr>
              <a:t>B Global</a:t>
            </a:r>
            <a:endParaRPr b="1" sz="1800">
              <a:solidFill>
                <a:schemeClr val="dk1"/>
              </a:solidFill>
              <a:latin typeface="Triodion"/>
              <a:ea typeface="Triodion"/>
              <a:cs typeface="Triodion"/>
              <a:sym typeface="Triodion"/>
            </a:endParaRPr>
          </a:p>
        </p:txBody>
      </p:sp>
      <p:sp>
        <p:nvSpPr>
          <p:cNvPr id="173" name="Google Shape;173;p28"/>
          <p:cNvSpPr txBox="1"/>
          <p:nvPr>
            <p:ph type="title"/>
          </p:nvPr>
        </p:nvSpPr>
        <p:spPr>
          <a:xfrm>
            <a:off x="311700" y="1041363"/>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lang="en" sz="1820"/>
              <a:t>Breaking Down the Global Basis Matrix</a:t>
            </a:r>
            <a:endParaRPr sz="1820"/>
          </a:p>
          <a:p>
            <a:pPr indent="0" lvl="0" marL="0" rtl="0" algn="l">
              <a:spcBef>
                <a:spcPts val="0"/>
              </a:spcBef>
              <a:spcAft>
                <a:spcPts val="0"/>
              </a:spcAft>
              <a:buSzPts val="990"/>
              <a:buNone/>
            </a:pPr>
            <a:r>
              <a:t/>
            </a:r>
            <a:endParaRPr sz="162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9"/>
          <p:cNvSpPr/>
          <p:nvPr/>
        </p:nvSpPr>
        <p:spPr>
          <a:xfrm>
            <a:off x="421798" y="2278646"/>
            <a:ext cx="8300400" cy="2768100"/>
          </a:xfrm>
          <a:prstGeom prst="roundRect">
            <a:avLst>
              <a:gd fmla="val 5487" name="adj"/>
            </a:avLst>
          </a:prstGeom>
          <a:noFill/>
          <a:ln cap="flat" cmpd="sng" w="38525">
            <a:solidFill>
              <a:schemeClr val="dk1"/>
            </a:solidFill>
            <a:prstDash val="solid"/>
            <a:round/>
            <a:headEnd len="sm" w="sm" type="none"/>
            <a:tailEnd len="sm" w="sm" type="none"/>
          </a:ln>
        </p:spPr>
        <p:txBody>
          <a:bodyPr anchorCtr="0" anchor="ctr" bIns="92425" lIns="92425" spcFirstLastPara="1" rIns="92425" wrap="square" tIns="92425">
            <a:noAutofit/>
          </a:bodyPr>
          <a:lstStyle/>
          <a:p>
            <a:pPr indent="0" lvl="0" marL="0" rtl="0" algn="ctr">
              <a:spcBef>
                <a:spcPts val="0"/>
              </a:spcBef>
              <a:spcAft>
                <a:spcPts val="0"/>
              </a:spcAft>
              <a:buNone/>
            </a:pPr>
            <a:r>
              <a:t/>
            </a:r>
            <a:endParaRPr sz="1415">
              <a:latin typeface="Triodion"/>
              <a:ea typeface="Triodion"/>
              <a:cs typeface="Triodion"/>
              <a:sym typeface="Triodion"/>
            </a:endParaRPr>
          </a:p>
        </p:txBody>
      </p:sp>
      <p:sp>
        <p:nvSpPr>
          <p:cNvPr id="179" name="Google Shape;179;p29"/>
          <p:cNvSpPr/>
          <p:nvPr/>
        </p:nvSpPr>
        <p:spPr>
          <a:xfrm>
            <a:off x="726150" y="2091000"/>
            <a:ext cx="7691700" cy="3143400"/>
          </a:xfrm>
          <a:prstGeom prst="rect">
            <a:avLst/>
          </a:prstGeom>
          <a:solidFill>
            <a:schemeClr val="lt1"/>
          </a:solidFill>
          <a:ln>
            <a:noFill/>
          </a:ln>
        </p:spPr>
        <p:txBody>
          <a:bodyPr anchorCtr="0" anchor="ctr" bIns="92425" lIns="92425" spcFirstLastPara="1" rIns="92425" wrap="square" tIns="92425">
            <a:noAutofit/>
          </a:bodyPr>
          <a:lstStyle/>
          <a:p>
            <a:pPr indent="0" lvl="0" marL="0" rtl="0" algn="ctr">
              <a:spcBef>
                <a:spcPts val="0"/>
              </a:spcBef>
              <a:spcAft>
                <a:spcPts val="0"/>
              </a:spcAft>
              <a:buNone/>
            </a:pPr>
            <a:r>
              <a:t/>
            </a:r>
            <a:endParaRPr b="1" sz="1415">
              <a:latin typeface="Triodion"/>
              <a:ea typeface="Triodion"/>
              <a:cs typeface="Triodion"/>
              <a:sym typeface="Triodion"/>
            </a:endParaRPr>
          </a:p>
        </p:txBody>
      </p:sp>
      <p:sp>
        <p:nvSpPr>
          <p:cNvPr id="180" name="Google Shape;180;p29"/>
          <p:cNvSpPr/>
          <p:nvPr/>
        </p:nvSpPr>
        <p:spPr>
          <a:xfrm>
            <a:off x="767225" y="2671859"/>
            <a:ext cx="1572600" cy="1981500"/>
          </a:xfrm>
          <a:prstGeom prst="roundRect">
            <a:avLst>
              <a:gd fmla="val 5487" name="adj"/>
            </a:avLst>
          </a:prstGeom>
          <a:noFill/>
          <a:ln cap="flat" cmpd="sng" w="38525">
            <a:solidFill>
              <a:schemeClr val="dk1"/>
            </a:solidFill>
            <a:prstDash val="solid"/>
            <a:round/>
            <a:headEnd len="sm" w="sm" type="none"/>
            <a:tailEnd len="sm" w="sm" type="none"/>
          </a:ln>
        </p:spPr>
        <p:txBody>
          <a:bodyPr anchorCtr="0" anchor="ctr" bIns="92425" lIns="92425" spcFirstLastPara="1" rIns="92425" wrap="square" tIns="92425">
            <a:noAutofit/>
          </a:bodyPr>
          <a:lstStyle/>
          <a:p>
            <a:pPr indent="0" lvl="0" marL="0" rtl="0" algn="ctr">
              <a:spcBef>
                <a:spcPts val="0"/>
              </a:spcBef>
              <a:spcAft>
                <a:spcPts val="0"/>
              </a:spcAft>
              <a:buNone/>
            </a:pPr>
            <a:r>
              <a:t/>
            </a:r>
            <a:endParaRPr sz="1415">
              <a:latin typeface="Triodion"/>
              <a:ea typeface="Triodion"/>
              <a:cs typeface="Triodion"/>
              <a:sym typeface="Triodion"/>
            </a:endParaRPr>
          </a:p>
        </p:txBody>
      </p:sp>
      <p:sp>
        <p:nvSpPr>
          <p:cNvPr id="181" name="Google Shape;181;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Finding Basis Matrix</a:t>
            </a:r>
            <a:endParaRPr/>
          </a:p>
        </p:txBody>
      </p:sp>
      <p:sp>
        <p:nvSpPr>
          <p:cNvPr id="182" name="Google Shape;182;p29"/>
          <p:cNvSpPr/>
          <p:nvPr/>
        </p:nvSpPr>
        <p:spPr>
          <a:xfrm>
            <a:off x="1054893" y="2486401"/>
            <a:ext cx="997200" cy="2352600"/>
          </a:xfrm>
          <a:prstGeom prst="rect">
            <a:avLst/>
          </a:prstGeom>
          <a:solidFill>
            <a:schemeClr val="lt1"/>
          </a:solidFill>
          <a:ln>
            <a:noFill/>
          </a:ln>
        </p:spPr>
        <p:txBody>
          <a:bodyPr anchorCtr="0" anchor="ctr" bIns="92425" lIns="92425" spcFirstLastPara="1" rIns="92425" wrap="square" tIns="92425">
            <a:noAutofit/>
          </a:bodyPr>
          <a:lstStyle/>
          <a:p>
            <a:pPr indent="0" lvl="0" marL="0" rtl="0" algn="ctr">
              <a:spcBef>
                <a:spcPts val="0"/>
              </a:spcBef>
              <a:spcAft>
                <a:spcPts val="0"/>
              </a:spcAft>
              <a:buNone/>
            </a:pPr>
            <a:r>
              <a:rPr b="1" lang="en" sz="1415">
                <a:latin typeface="Triodion"/>
                <a:ea typeface="Triodion"/>
                <a:cs typeface="Triodion"/>
                <a:sym typeface="Triodion"/>
              </a:rPr>
              <a:t>B</a:t>
            </a:r>
            <a:endParaRPr b="1" sz="1415">
              <a:latin typeface="Triodion"/>
              <a:ea typeface="Triodion"/>
              <a:cs typeface="Triodion"/>
              <a:sym typeface="Triodion"/>
            </a:endParaRPr>
          </a:p>
          <a:p>
            <a:pPr indent="0" lvl="0" marL="0" rtl="0" algn="ctr">
              <a:spcBef>
                <a:spcPts val="0"/>
              </a:spcBef>
              <a:spcAft>
                <a:spcPts val="0"/>
              </a:spcAft>
              <a:buNone/>
            </a:pPr>
            <a:r>
              <a:rPr b="1" lang="en" sz="1415">
                <a:latin typeface="Triodion"/>
                <a:ea typeface="Triodion"/>
                <a:cs typeface="Triodion"/>
                <a:sym typeface="Triodion"/>
              </a:rPr>
              <a:t>Drums</a:t>
            </a:r>
            <a:endParaRPr b="1" sz="1415">
              <a:latin typeface="Triodion"/>
              <a:ea typeface="Triodion"/>
              <a:cs typeface="Triodion"/>
              <a:sym typeface="Triodion"/>
            </a:endParaRPr>
          </a:p>
        </p:txBody>
      </p:sp>
      <p:sp>
        <p:nvSpPr>
          <p:cNvPr id="183" name="Google Shape;183;p29"/>
          <p:cNvSpPr/>
          <p:nvPr/>
        </p:nvSpPr>
        <p:spPr>
          <a:xfrm>
            <a:off x="2779553" y="2671845"/>
            <a:ext cx="1572600" cy="1981500"/>
          </a:xfrm>
          <a:prstGeom prst="roundRect">
            <a:avLst>
              <a:gd fmla="val 5487" name="adj"/>
            </a:avLst>
          </a:prstGeom>
          <a:noFill/>
          <a:ln cap="flat" cmpd="sng" w="38525">
            <a:solidFill>
              <a:schemeClr val="dk1"/>
            </a:solidFill>
            <a:prstDash val="solid"/>
            <a:round/>
            <a:headEnd len="sm" w="sm" type="none"/>
            <a:tailEnd len="sm" w="sm" type="none"/>
          </a:ln>
        </p:spPr>
        <p:txBody>
          <a:bodyPr anchorCtr="0" anchor="ctr" bIns="92425" lIns="92425" spcFirstLastPara="1" rIns="92425" wrap="square" tIns="92425">
            <a:noAutofit/>
          </a:bodyPr>
          <a:lstStyle/>
          <a:p>
            <a:pPr indent="0" lvl="0" marL="0" rtl="0" algn="ctr">
              <a:spcBef>
                <a:spcPts val="0"/>
              </a:spcBef>
              <a:spcAft>
                <a:spcPts val="0"/>
              </a:spcAft>
              <a:buNone/>
            </a:pPr>
            <a:r>
              <a:t/>
            </a:r>
            <a:endParaRPr sz="1415">
              <a:latin typeface="Triodion"/>
              <a:ea typeface="Triodion"/>
              <a:cs typeface="Triodion"/>
              <a:sym typeface="Triodion"/>
            </a:endParaRPr>
          </a:p>
        </p:txBody>
      </p:sp>
      <p:sp>
        <p:nvSpPr>
          <p:cNvPr id="184" name="Google Shape;184;p29"/>
          <p:cNvSpPr/>
          <p:nvPr/>
        </p:nvSpPr>
        <p:spPr>
          <a:xfrm>
            <a:off x="3067290" y="2486410"/>
            <a:ext cx="997200" cy="2352600"/>
          </a:xfrm>
          <a:prstGeom prst="rect">
            <a:avLst/>
          </a:prstGeom>
          <a:solidFill>
            <a:schemeClr val="lt1"/>
          </a:solidFill>
          <a:ln>
            <a:noFill/>
          </a:ln>
        </p:spPr>
        <p:txBody>
          <a:bodyPr anchorCtr="0" anchor="ctr" bIns="92425" lIns="92425" spcFirstLastPara="1" rIns="92425" wrap="square" tIns="92425">
            <a:noAutofit/>
          </a:bodyPr>
          <a:lstStyle/>
          <a:p>
            <a:pPr indent="0" lvl="0" marL="0" rtl="0" algn="ctr">
              <a:spcBef>
                <a:spcPts val="0"/>
              </a:spcBef>
              <a:spcAft>
                <a:spcPts val="0"/>
              </a:spcAft>
              <a:buNone/>
            </a:pPr>
            <a:r>
              <a:rPr b="1" lang="en" sz="1415">
                <a:solidFill>
                  <a:schemeClr val="dk1"/>
                </a:solidFill>
                <a:latin typeface="Triodion"/>
                <a:ea typeface="Triodion"/>
                <a:cs typeface="Triodion"/>
                <a:sym typeface="Triodion"/>
              </a:rPr>
              <a:t>B</a:t>
            </a:r>
            <a:endParaRPr b="1" sz="1415">
              <a:solidFill>
                <a:schemeClr val="dk1"/>
              </a:solidFill>
              <a:latin typeface="Triodion"/>
              <a:ea typeface="Triodion"/>
              <a:cs typeface="Triodion"/>
              <a:sym typeface="Triodion"/>
            </a:endParaRPr>
          </a:p>
          <a:p>
            <a:pPr indent="0" lvl="0" marL="0" rtl="0" algn="ctr">
              <a:spcBef>
                <a:spcPts val="0"/>
              </a:spcBef>
              <a:spcAft>
                <a:spcPts val="0"/>
              </a:spcAft>
              <a:buNone/>
            </a:pPr>
            <a:r>
              <a:rPr b="1" lang="en" sz="1415">
                <a:solidFill>
                  <a:schemeClr val="dk1"/>
                </a:solidFill>
                <a:latin typeface="Triodion"/>
                <a:ea typeface="Triodion"/>
                <a:cs typeface="Triodion"/>
                <a:sym typeface="Triodion"/>
              </a:rPr>
              <a:t>Vocal</a:t>
            </a:r>
            <a:endParaRPr b="1" sz="1415">
              <a:latin typeface="Triodion"/>
              <a:ea typeface="Triodion"/>
              <a:cs typeface="Triodion"/>
              <a:sym typeface="Triodion"/>
            </a:endParaRPr>
          </a:p>
        </p:txBody>
      </p:sp>
      <p:sp>
        <p:nvSpPr>
          <p:cNvPr id="185" name="Google Shape;185;p29"/>
          <p:cNvSpPr/>
          <p:nvPr/>
        </p:nvSpPr>
        <p:spPr>
          <a:xfrm>
            <a:off x="4791870" y="2671859"/>
            <a:ext cx="1572600" cy="1981500"/>
          </a:xfrm>
          <a:prstGeom prst="roundRect">
            <a:avLst>
              <a:gd fmla="val 5487" name="adj"/>
            </a:avLst>
          </a:prstGeom>
          <a:noFill/>
          <a:ln cap="flat" cmpd="sng" w="38525">
            <a:solidFill>
              <a:schemeClr val="dk1"/>
            </a:solidFill>
            <a:prstDash val="solid"/>
            <a:round/>
            <a:headEnd len="sm" w="sm" type="none"/>
            <a:tailEnd len="sm" w="sm" type="none"/>
          </a:ln>
        </p:spPr>
        <p:txBody>
          <a:bodyPr anchorCtr="0" anchor="ctr" bIns="92425" lIns="92425" spcFirstLastPara="1" rIns="92425" wrap="square" tIns="92425">
            <a:noAutofit/>
          </a:bodyPr>
          <a:lstStyle/>
          <a:p>
            <a:pPr indent="0" lvl="0" marL="0" rtl="0" algn="ctr">
              <a:spcBef>
                <a:spcPts val="0"/>
              </a:spcBef>
              <a:spcAft>
                <a:spcPts val="0"/>
              </a:spcAft>
              <a:buNone/>
            </a:pPr>
            <a:r>
              <a:t/>
            </a:r>
            <a:endParaRPr sz="1415">
              <a:latin typeface="Triodion"/>
              <a:ea typeface="Triodion"/>
              <a:cs typeface="Triodion"/>
              <a:sym typeface="Triodion"/>
            </a:endParaRPr>
          </a:p>
        </p:txBody>
      </p:sp>
      <p:sp>
        <p:nvSpPr>
          <p:cNvPr id="186" name="Google Shape;186;p29"/>
          <p:cNvSpPr/>
          <p:nvPr/>
        </p:nvSpPr>
        <p:spPr>
          <a:xfrm>
            <a:off x="5079538" y="2486401"/>
            <a:ext cx="997200" cy="2352600"/>
          </a:xfrm>
          <a:prstGeom prst="rect">
            <a:avLst/>
          </a:prstGeom>
          <a:solidFill>
            <a:schemeClr val="lt1"/>
          </a:solidFill>
          <a:ln>
            <a:noFill/>
          </a:ln>
        </p:spPr>
        <p:txBody>
          <a:bodyPr anchorCtr="0" anchor="ctr" bIns="92425" lIns="92425" spcFirstLastPara="1" rIns="92425" wrap="square" tIns="92425">
            <a:noAutofit/>
          </a:bodyPr>
          <a:lstStyle/>
          <a:p>
            <a:pPr indent="0" lvl="0" marL="0" rtl="0" algn="ctr">
              <a:spcBef>
                <a:spcPts val="0"/>
              </a:spcBef>
              <a:spcAft>
                <a:spcPts val="0"/>
              </a:spcAft>
              <a:buNone/>
            </a:pPr>
            <a:r>
              <a:rPr b="1" lang="en" sz="1415">
                <a:solidFill>
                  <a:schemeClr val="dk1"/>
                </a:solidFill>
                <a:latin typeface="Triodion"/>
                <a:ea typeface="Triodion"/>
                <a:cs typeface="Triodion"/>
                <a:sym typeface="Triodion"/>
              </a:rPr>
              <a:t>B</a:t>
            </a:r>
            <a:endParaRPr b="1" sz="1415">
              <a:solidFill>
                <a:schemeClr val="dk1"/>
              </a:solidFill>
              <a:latin typeface="Triodion"/>
              <a:ea typeface="Triodion"/>
              <a:cs typeface="Triodion"/>
              <a:sym typeface="Triodion"/>
            </a:endParaRPr>
          </a:p>
          <a:p>
            <a:pPr indent="0" lvl="0" marL="0" rtl="0" algn="ctr">
              <a:spcBef>
                <a:spcPts val="0"/>
              </a:spcBef>
              <a:spcAft>
                <a:spcPts val="0"/>
              </a:spcAft>
              <a:buNone/>
            </a:pPr>
            <a:r>
              <a:rPr b="1" lang="en" sz="1415">
                <a:solidFill>
                  <a:schemeClr val="dk1"/>
                </a:solidFill>
                <a:latin typeface="Triodion"/>
                <a:ea typeface="Triodion"/>
                <a:cs typeface="Triodion"/>
                <a:sym typeface="Triodion"/>
              </a:rPr>
              <a:t>Bass</a:t>
            </a:r>
            <a:endParaRPr b="1" sz="1415">
              <a:latin typeface="Triodion"/>
              <a:ea typeface="Triodion"/>
              <a:cs typeface="Triodion"/>
              <a:sym typeface="Triodion"/>
            </a:endParaRPr>
          </a:p>
        </p:txBody>
      </p:sp>
      <p:sp>
        <p:nvSpPr>
          <p:cNvPr id="187" name="Google Shape;187;p29"/>
          <p:cNvSpPr/>
          <p:nvPr/>
        </p:nvSpPr>
        <p:spPr>
          <a:xfrm>
            <a:off x="6804186" y="2671845"/>
            <a:ext cx="1572600" cy="1981500"/>
          </a:xfrm>
          <a:prstGeom prst="roundRect">
            <a:avLst>
              <a:gd fmla="val 5487" name="adj"/>
            </a:avLst>
          </a:prstGeom>
          <a:noFill/>
          <a:ln cap="flat" cmpd="sng" w="38525">
            <a:solidFill>
              <a:schemeClr val="dk1"/>
            </a:solidFill>
            <a:prstDash val="solid"/>
            <a:round/>
            <a:headEnd len="sm" w="sm" type="none"/>
            <a:tailEnd len="sm" w="sm" type="none"/>
          </a:ln>
        </p:spPr>
        <p:txBody>
          <a:bodyPr anchorCtr="0" anchor="ctr" bIns="92425" lIns="92425" spcFirstLastPara="1" rIns="92425" wrap="square" tIns="92425">
            <a:noAutofit/>
          </a:bodyPr>
          <a:lstStyle/>
          <a:p>
            <a:pPr indent="0" lvl="0" marL="0" rtl="0" algn="ctr">
              <a:spcBef>
                <a:spcPts val="0"/>
              </a:spcBef>
              <a:spcAft>
                <a:spcPts val="0"/>
              </a:spcAft>
              <a:buNone/>
            </a:pPr>
            <a:r>
              <a:t/>
            </a:r>
            <a:endParaRPr sz="1415">
              <a:latin typeface="Triodion"/>
              <a:ea typeface="Triodion"/>
              <a:cs typeface="Triodion"/>
              <a:sym typeface="Triodion"/>
            </a:endParaRPr>
          </a:p>
        </p:txBody>
      </p:sp>
      <p:sp>
        <p:nvSpPr>
          <p:cNvPr id="188" name="Google Shape;188;p29"/>
          <p:cNvSpPr/>
          <p:nvPr/>
        </p:nvSpPr>
        <p:spPr>
          <a:xfrm>
            <a:off x="7057825" y="2450200"/>
            <a:ext cx="1063200" cy="2392200"/>
          </a:xfrm>
          <a:prstGeom prst="rect">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415">
                <a:solidFill>
                  <a:schemeClr val="dk1"/>
                </a:solidFill>
                <a:latin typeface="Triodion"/>
                <a:ea typeface="Triodion"/>
                <a:cs typeface="Triodion"/>
                <a:sym typeface="Triodion"/>
              </a:rPr>
              <a:t>B</a:t>
            </a:r>
            <a:endParaRPr b="1" sz="1415">
              <a:solidFill>
                <a:schemeClr val="dk1"/>
              </a:solidFill>
              <a:latin typeface="Triodion"/>
              <a:ea typeface="Triodion"/>
              <a:cs typeface="Triodion"/>
              <a:sym typeface="Triodion"/>
            </a:endParaRPr>
          </a:p>
          <a:p>
            <a:pPr indent="0" lvl="0" marL="0" rtl="0" algn="ctr">
              <a:spcBef>
                <a:spcPts val="0"/>
              </a:spcBef>
              <a:spcAft>
                <a:spcPts val="0"/>
              </a:spcAft>
              <a:buNone/>
            </a:pPr>
            <a:r>
              <a:rPr b="1" lang="en" sz="1415">
                <a:solidFill>
                  <a:schemeClr val="dk1"/>
                </a:solidFill>
                <a:latin typeface="Triodion"/>
                <a:ea typeface="Triodion"/>
                <a:cs typeface="Triodion"/>
                <a:sym typeface="Triodion"/>
              </a:rPr>
              <a:t>Other</a:t>
            </a:r>
            <a:endParaRPr>
              <a:latin typeface="Triodion"/>
              <a:ea typeface="Triodion"/>
              <a:cs typeface="Triodion"/>
              <a:sym typeface="Triodion"/>
            </a:endParaRPr>
          </a:p>
        </p:txBody>
      </p:sp>
      <p:cxnSp>
        <p:nvCxnSpPr>
          <p:cNvPr id="189" name="Google Shape;189;p29"/>
          <p:cNvCxnSpPr>
            <a:stCxn id="188" idx="0"/>
          </p:cNvCxnSpPr>
          <p:nvPr/>
        </p:nvCxnSpPr>
        <p:spPr>
          <a:xfrm flipH="1">
            <a:off x="7055725" y="2450200"/>
            <a:ext cx="533700" cy="805500"/>
          </a:xfrm>
          <a:prstGeom prst="straightConnector1">
            <a:avLst/>
          </a:prstGeom>
          <a:noFill/>
          <a:ln cap="flat" cmpd="sng" w="28575">
            <a:solidFill>
              <a:schemeClr val="dk2"/>
            </a:solidFill>
            <a:prstDash val="solid"/>
            <a:round/>
            <a:headEnd len="med" w="med" type="none"/>
            <a:tailEnd len="med" w="med" type="none"/>
          </a:ln>
        </p:spPr>
      </p:cxnSp>
      <p:cxnSp>
        <p:nvCxnSpPr>
          <p:cNvPr id="190" name="Google Shape;190;p29"/>
          <p:cNvCxnSpPr/>
          <p:nvPr/>
        </p:nvCxnSpPr>
        <p:spPr>
          <a:xfrm flipH="1">
            <a:off x="7050025" y="2450200"/>
            <a:ext cx="1073100" cy="1619400"/>
          </a:xfrm>
          <a:prstGeom prst="straightConnector1">
            <a:avLst/>
          </a:prstGeom>
          <a:noFill/>
          <a:ln cap="flat" cmpd="sng" w="28575">
            <a:solidFill>
              <a:schemeClr val="dk2"/>
            </a:solidFill>
            <a:prstDash val="solid"/>
            <a:round/>
            <a:headEnd len="med" w="med" type="none"/>
            <a:tailEnd len="med" w="med" type="none"/>
          </a:ln>
        </p:spPr>
      </p:cxnSp>
      <p:cxnSp>
        <p:nvCxnSpPr>
          <p:cNvPr id="191" name="Google Shape;191;p29"/>
          <p:cNvCxnSpPr/>
          <p:nvPr/>
        </p:nvCxnSpPr>
        <p:spPr>
          <a:xfrm flipH="1">
            <a:off x="7057825" y="3255791"/>
            <a:ext cx="1073100" cy="1619400"/>
          </a:xfrm>
          <a:prstGeom prst="straightConnector1">
            <a:avLst/>
          </a:prstGeom>
          <a:noFill/>
          <a:ln cap="flat" cmpd="sng" w="28575">
            <a:solidFill>
              <a:schemeClr val="dk2"/>
            </a:solidFill>
            <a:prstDash val="solid"/>
            <a:round/>
            <a:headEnd len="med" w="med" type="none"/>
            <a:tailEnd len="med" w="med" type="none"/>
          </a:ln>
        </p:spPr>
      </p:cxnSp>
      <p:cxnSp>
        <p:nvCxnSpPr>
          <p:cNvPr id="192" name="Google Shape;192;p29"/>
          <p:cNvCxnSpPr>
            <a:endCxn id="188" idx="2"/>
          </p:cNvCxnSpPr>
          <p:nvPr/>
        </p:nvCxnSpPr>
        <p:spPr>
          <a:xfrm flipH="1">
            <a:off x="7589425" y="3950800"/>
            <a:ext cx="540300" cy="891600"/>
          </a:xfrm>
          <a:prstGeom prst="straightConnector1">
            <a:avLst/>
          </a:prstGeom>
          <a:noFill/>
          <a:ln cap="flat" cmpd="sng" w="28575">
            <a:solidFill>
              <a:schemeClr val="dk2"/>
            </a:solidFill>
            <a:prstDash val="solid"/>
            <a:round/>
            <a:headEnd len="med" w="med" type="none"/>
            <a:tailEnd len="med" w="med" type="none"/>
          </a:ln>
        </p:spPr>
      </p:cxnSp>
      <p:sp>
        <p:nvSpPr>
          <p:cNvPr id="193" name="Google Shape;193;p29"/>
          <p:cNvSpPr txBox="1"/>
          <p:nvPr/>
        </p:nvSpPr>
        <p:spPr>
          <a:xfrm>
            <a:off x="1441800" y="1942500"/>
            <a:ext cx="5805000" cy="54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Triodion"/>
                <a:ea typeface="Triodion"/>
                <a:cs typeface="Triodion"/>
                <a:sym typeface="Triodion"/>
              </a:rPr>
              <a:t>B Global</a:t>
            </a:r>
            <a:endParaRPr b="1" sz="1800">
              <a:solidFill>
                <a:schemeClr val="dk1"/>
              </a:solidFill>
              <a:latin typeface="Triodion"/>
              <a:ea typeface="Triodion"/>
              <a:cs typeface="Triodion"/>
              <a:sym typeface="Triodion"/>
            </a:endParaRPr>
          </a:p>
        </p:txBody>
      </p:sp>
      <p:sp>
        <p:nvSpPr>
          <p:cNvPr id="194" name="Google Shape;194;p29"/>
          <p:cNvSpPr txBox="1"/>
          <p:nvPr>
            <p:ph type="title"/>
          </p:nvPr>
        </p:nvSpPr>
        <p:spPr>
          <a:xfrm>
            <a:off x="311700" y="1041382"/>
            <a:ext cx="8520600" cy="891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800"/>
              <a:t>High-pass filtering to enforce orthogonality</a:t>
            </a:r>
            <a:endParaRPr sz="1800"/>
          </a:p>
          <a:p>
            <a:pPr indent="-331470" lvl="0" marL="457200" rtl="0" algn="l">
              <a:spcBef>
                <a:spcPts val="0"/>
              </a:spcBef>
              <a:spcAft>
                <a:spcPts val="0"/>
              </a:spcAft>
              <a:buSzPct val="100000"/>
              <a:buChar char="-"/>
            </a:pPr>
            <a:r>
              <a:rPr lang="en" sz="1800"/>
              <a:t>remove low-frequency templates from vocal / harmonic matrices</a:t>
            </a:r>
            <a:endParaRPr sz="1800"/>
          </a:p>
          <a:p>
            <a:pPr indent="-331470" lvl="0" marL="457200" rtl="0" algn="l">
              <a:spcBef>
                <a:spcPts val="0"/>
              </a:spcBef>
              <a:spcAft>
                <a:spcPts val="0"/>
              </a:spcAft>
              <a:buSzPct val="100000"/>
              <a:buChar char="-"/>
            </a:pPr>
            <a:r>
              <a:rPr lang="en" sz="1800"/>
              <a:t>main goal to not overfit to sounds that are significantly quiet</a:t>
            </a:r>
            <a:endParaRPr sz="1800"/>
          </a:p>
        </p:txBody>
      </p:sp>
      <p:sp>
        <p:nvSpPr>
          <p:cNvPr id="195" name="Google Shape;195;p29"/>
          <p:cNvSpPr/>
          <p:nvPr/>
        </p:nvSpPr>
        <p:spPr>
          <a:xfrm>
            <a:off x="3033200" y="2433800"/>
            <a:ext cx="1063200" cy="2392200"/>
          </a:xfrm>
          <a:prstGeom prst="rect">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415">
                <a:solidFill>
                  <a:schemeClr val="dk1"/>
                </a:solidFill>
                <a:latin typeface="Triodion"/>
                <a:ea typeface="Triodion"/>
                <a:cs typeface="Triodion"/>
                <a:sym typeface="Triodion"/>
              </a:rPr>
              <a:t>B</a:t>
            </a:r>
            <a:endParaRPr b="1" sz="1415">
              <a:solidFill>
                <a:schemeClr val="dk1"/>
              </a:solidFill>
              <a:latin typeface="Triodion"/>
              <a:ea typeface="Triodion"/>
              <a:cs typeface="Triodion"/>
              <a:sym typeface="Triodion"/>
            </a:endParaRPr>
          </a:p>
          <a:p>
            <a:pPr indent="0" lvl="0" marL="0" rtl="0" algn="ctr">
              <a:spcBef>
                <a:spcPts val="0"/>
              </a:spcBef>
              <a:spcAft>
                <a:spcPts val="0"/>
              </a:spcAft>
              <a:buNone/>
            </a:pPr>
            <a:r>
              <a:rPr b="1" lang="en" sz="1415">
                <a:solidFill>
                  <a:schemeClr val="dk1"/>
                </a:solidFill>
                <a:latin typeface="Triodion"/>
                <a:ea typeface="Triodion"/>
                <a:cs typeface="Triodion"/>
                <a:sym typeface="Triodion"/>
              </a:rPr>
              <a:t>Vocal</a:t>
            </a:r>
            <a:endParaRPr>
              <a:latin typeface="Triodion"/>
              <a:ea typeface="Triodion"/>
              <a:cs typeface="Triodion"/>
              <a:sym typeface="Triodion"/>
            </a:endParaRPr>
          </a:p>
        </p:txBody>
      </p:sp>
      <p:cxnSp>
        <p:nvCxnSpPr>
          <p:cNvPr id="196" name="Google Shape;196;p29"/>
          <p:cNvCxnSpPr>
            <a:stCxn id="195" idx="0"/>
          </p:cNvCxnSpPr>
          <p:nvPr/>
        </p:nvCxnSpPr>
        <p:spPr>
          <a:xfrm flipH="1">
            <a:off x="3031100" y="2433800"/>
            <a:ext cx="533700" cy="805500"/>
          </a:xfrm>
          <a:prstGeom prst="straightConnector1">
            <a:avLst/>
          </a:prstGeom>
          <a:noFill/>
          <a:ln cap="flat" cmpd="sng" w="28575">
            <a:solidFill>
              <a:schemeClr val="dk2"/>
            </a:solidFill>
            <a:prstDash val="solid"/>
            <a:round/>
            <a:headEnd len="med" w="med" type="none"/>
            <a:tailEnd len="med" w="med" type="none"/>
          </a:ln>
        </p:spPr>
      </p:cxnSp>
      <p:cxnSp>
        <p:nvCxnSpPr>
          <p:cNvPr id="197" name="Google Shape;197;p29"/>
          <p:cNvCxnSpPr/>
          <p:nvPr/>
        </p:nvCxnSpPr>
        <p:spPr>
          <a:xfrm flipH="1">
            <a:off x="3025400" y="2433800"/>
            <a:ext cx="1073100" cy="1619400"/>
          </a:xfrm>
          <a:prstGeom prst="straightConnector1">
            <a:avLst/>
          </a:prstGeom>
          <a:noFill/>
          <a:ln cap="flat" cmpd="sng" w="28575">
            <a:solidFill>
              <a:schemeClr val="dk2"/>
            </a:solidFill>
            <a:prstDash val="solid"/>
            <a:round/>
            <a:headEnd len="med" w="med" type="none"/>
            <a:tailEnd len="med" w="med" type="none"/>
          </a:ln>
        </p:spPr>
      </p:cxnSp>
      <p:cxnSp>
        <p:nvCxnSpPr>
          <p:cNvPr id="198" name="Google Shape;198;p29"/>
          <p:cNvCxnSpPr/>
          <p:nvPr/>
        </p:nvCxnSpPr>
        <p:spPr>
          <a:xfrm flipH="1">
            <a:off x="3033200" y="3239391"/>
            <a:ext cx="1073100" cy="1619400"/>
          </a:xfrm>
          <a:prstGeom prst="straightConnector1">
            <a:avLst/>
          </a:prstGeom>
          <a:noFill/>
          <a:ln cap="flat" cmpd="sng" w="28575">
            <a:solidFill>
              <a:schemeClr val="dk2"/>
            </a:solidFill>
            <a:prstDash val="solid"/>
            <a:round/>
            <a:headEnd len="med" w="med" type="none"/>
            <a:tailEnd len="med" w="med" type="none"/>
          </a:ln>
        </p:spPr>
      </p:cxnSp>
      <p:cxnSp>
        <p:nvCxnSpPr>
          <p:cNvPr id="199" name="Google Shape;199;p29"/>
          <p:cNvCxnSpPr>
            <a:endCxn id="195" idx="2"/>
          </p:cNvCxnSpPr>
          <p:nvPr/>
        </p:nvCxnSpPr>
        <p:spPr>
          <a:xfrm flipH="1">
            <a:off x="3564800" y="3934400"/>
            <a:ext cx="540300" cy="8916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Finding Basis Matrix</a:t>
            </a:r>
            <a:endParaRPr/>
          </a:p>
        </p:txBody>
      </p:sp>
      <p:sp>
        <p:nvSpPr>
          <p:cNvPr id="205" name="Google Shape;205;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For each source:</a:t>
            </a:r>
            <a:endParaRPr/>
          </a:p>
          <a:p>
            <a:pPr indent="-342900" lvl="0" marL="457200" rtl="0" algn="l">
              <a:spcBef>
                <a:spcPts val="1200"/>
              </a:spcBef>
              <a:spcAft>
                <a:spcPts val="0"/>
              </a:spcAft>
              <a:buSzPts val="1800"/>
              <a:buChar char="-"/>
            </a:pPr>
            <a:r>
              <a:rPr i="1" lang="en"/>
              <a:t>B</a:t>
            </a:r>
            <a:r>
              <a:rPr lang="en"/>
              <a:t> with specific rank </a:t>
            </a:r>
            <a:r>
              <a:rPr i="1" lang="en"/>
              <a:t>K</a:t>
            </a:r>
            <a:r>
              <a:rPr lang="en"/>
              <a:t> where </a:t>
            </a:r>
            <a:r>
              <a:rPr i="1" lang="en"/>
              <a:t>W</a:t>
            </a:r>
            <a:r>
              <a:rPr lang="en"/>
              <a:t> is the activation matrix</a:t>
            </a:r>
            <a:endParaRPr/>
          </a:p>
          <a:p>
            <a:pPr indent="-342900" lvl="0" marL="457200" rtl="0" algn="l">
              <a:spcBef>
                <a:spcPts val="0"/>
              </a:spcBef>
              <a:spcAft>
                <a:spcPts val="0"/>
              </a:spcAft>
              <a:buSzPts val="1800"/>
              <a:buChar char="-"/>
            </a:pPr>
            <a:r>
              <a:rPr lang="en"/>
              <a:t>Depending on results, each source has a specific </a:t>
            </a:r>
            <a:r>
              <a:rPr i="1" lang="en"/>
              <a:t>K</a:t>
            </a:r>
            <a:endParaRPr i="1"/>
          </a:p>
          <a:p>
            <a:pPr indent="0" lvl="0" marL="914400" rtl="0" algn="l">
              <a:spcBef>
                <a:spcPts val="1200"/>
              </a:spcBef>
              <a:spcAft>
                <a:spcPts val="0"/>
              </a:spcAft>
              <a:buNone/>
            </a:pPr>
            <a:r>
              <a:rPr lang="en" sz="1600"/>
              <a:t>drums: 40	 	bass: 20		vocals: 60			other: 90</a:t>
            </a:r>
            <a:endParaRPr sz="1600"/>
          </a:p>
          <a:p>
            <a:pPr indent="0" lvl="0" marL="0" rtl="0" algn="l">
              <a:spcBef>
                <a:spcPts val="1200"/>
              </a:spcBef>
              <a:spcAft>
                <a:spcPts val="1200"/>
              </a:spcAft>
              <a:buNone/>
            </a:pPr>
            <a:r>
              <a:rPr lang="en"/>
              <a:t>Minimize this objective function based on KL divergence:</a:t>
            </a:r>
            <a:endParaRPr/>
          </a:p>
        </p:txBody>
      </p:sp>
      <p:pic>
        <p:nvPicPr>
          <p:cNvPr id="206" name="Google Shape;206;p30" title="Screenshot 2026-05-03 at 11.50.29 PM.png"/>
          <p:cNvPicPr preferRelativeResize="0"/>
          <p:nvPr/>
        </p:nvPicPr>
        <p:blipFill>
          <a:blip r:embed="rId3">
            <a:alphaModFix/>
          </a:blip>
          <a:stretch>
            <a:fillRect/>
          </a:stretch>
        </p:blipFill>
        <p:spPr>
          <a:xfrm>
            <a:off x="1845125" y="3332824"/>
            <a:ext cx="5453751" cy="12360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Solving Minimization Objective</a:t>
            </a:r>
            <a:endParaRPr/>
          </a:p>
        </p:txBody>
      </p:sp>
      <p:sp>
        <p:nvSpPr>
          <p:cNvPr id="212" name="Google Shape;212;p31"/>
          <p:cNvSpPr txBox="1"/>
          <p:nvPr>
            <p:ph idx="1" type="body"/>
          </p:nvPr>
        </p:nvSpPr>
        <p:spPr>
          <a:xfrm>
            <a:off x="311700" y="1770125"/>
            <a:ext cx="4260300" cy="2798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Basis Matrix</a:t>
            </a:r>
            <a:endParaRPr/>
          </a:p>
        </p:txBody>
      </p:sp>
      <p:sp>
        <p:nvSpPr>
          <p:cNvPr id="213" name="Google Shape;213;p31"/>
          <p:cNvSpPr txBox="1"/>
          <p:nvPr>
            <p:ph idx="1" type="body"/>
          </p:nvPr>
        </p:nvSpPr>
        <p:spPr>
          <a:xfrm>
            <a:off x="4572000" y="1770125"/>
            <a:ext cx="4260300" cy="2798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Activation Matrix</a:t>
            </a:r>
            <a:endParaRPr/>
          </a:p>
        </p:txBody>
      </p:sp>
      <p:sp>
        <p:nvSpPr>
          <p:cNvPr id="214" name="Google Shape;214;p31"/>
          <p:cNvSpPr txBox="1"/>
          <p:nvPr/>
        </p:nvSpPr>
        <p:spPr>
          <a:xfrm>
            <a:off x="311700" y="1080425"/>
            <a:ext cx="8520600" cy="62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Triodion"/>
                <a:ea typeface="Triodion"/>
                <a:cs typeface="Triodion"/>
                <a:sym typeface="Triodion"/>
              </a:rPr>
              <a:t>Minimizing objective function results in multiplicative update:	</a:t>
            </a:r>
            <a:endParaRPr sz="1800">
              <a:solidFill>
                <a:schemeClr val="dk1"/>
              </a:solidFill>
              <a:latin typeface="Triodion"/>
              <a:ea typeface="Triodion"/>
              <a:cs typeface="Triodion"/>
              <a:sym typeface="Triodion"/>
            </a:endParaRPr>
          </a:p>
        </p:txBody>
      </p:sp>
      <p:pic>
        <p:nvPicPr>
          <p:cNvPr id="215" name="Google Shape;215;p31" title="Screenshot 2026-05-04 at 12.51.05 PM.png"/>
          <p:cNvPicPr preferRelativeResize="0"/>
          <p:nvPr/>
        </p:nvPicPr>
        <p:blipFill>
          <a:blip r:embed="rId3">
            <a:alphaModFix/>
          </a:blip>
          <a:stretch>
            <a:fillRect/>
          </a:stretch>
        </p:blipFill>
        <p:spPr>
          <a:xfrm>
            <a:off x="369213" y="2614962"/>
            <a:ext cx="4145275" cy="1352500"/>
          </a:xfrm>
          <a:prstGeom prst="rect">
            <a:avLst/>
          </a:prstGeom>
          <a:noFill/>
          <a:ln>
            <a:noFill/>
          </a:ln>
        </p:spPr>
      </p:pic>
      <p:pic>
        <p:nvPicPr>
          <p:cNvPr id="216" name="Google Shape;216;p31" title="Screenshot 2026-05-04 at 12.51.13 PM.png"/>
          <p:cNvPicPr preferRelativeResize="0"/>
          <p:nvPr/>
        </p:nvPicPr>
        <p:blipFill>
          <a:blip r:embed="rId4">
            <a:alphaModFix/>
          </a:blip>
          <a:stretch>
            <a:fillRect/>
          </a:stretch>
        </p:blipFill>
        <p:spPr>
          <a:xfrm>
            <a:off x="4572000" y="2668825"/>
            <a:ext cx="4260300" cy="124478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Decoupled Regularization and Multiplicative Updates</a:t>
            </a:r>
            <a:endParaRPr/>
          </a:p>
        </p:txBody>
      </p:sp>
      <p:sp>
        <p:nvSpPr>
          <p:cNvPr id="222" name="Google Shape;222;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 separation phase, global dictionary is held constant</a:t>
            </a:r>
            <a:endParaRPr/>
          </a:p>
          <a:p>
            <a:pPr indent="0" lvl="0" marL="0" rtl="0" algn="l">
              <a:spcBef>
                <a:spcPts val="1200"/>
              </a:spcBef>
              <a:spcAft>
                <a:spcPts val="0"/>
              </a:spcAft>
              <a:buNone/>
            </a:pPr>
            <a:r>
              <a:rPr lang="en"/>
              <a:t>Goal: optimize </a:t>
            </a:r>
            <a:r>
              <a:rPr i="1" lang="en"/>
              <a:t>W</a:t>
            </a:r>
            <a:r>
              <a:rPr lang="en"/>
              <a:t> </a:t>
            </a:r>
            <a:endParaRPr/>
          </a:p>
          <a:p>
            <a:pPr indent="-342900" lvl="0" marL="457200" rtl="0" algn="l">
              <a:spcBef>
                <a:spcPts val="1200"/>
              </a:spcBef>
              <a:spcAft>
                <a:spcPts val="0"/>
              </a:spcAft>
              <a:buSzPts val="1800"/>
              <a:buChar char="-"/>
            </a:pPr>
            <a:r>
              <a:rPr lang="en"/>
              <a:t>Different acoustic characteristics</a:t>
            </a:r>
            <a:endParaRPr/>
          </a:p>
          <a:p>
            <a:pPr indent="-342900" lvl="0" marL="457200" rtl="0" algn="l">
              <a:spcBef>
                <a:spcPts val="0"/>
              </a:spcBef>
              <a:spcAft>
                <a:spcPts val="0"/>
              </a:spcAft>
              <a:buSzPts val="1800"/>
              <a:buChar char="-"/>
            </a:pPr>
            <a:r>
              <a:rPr lang="en"/>
              <a:t>Targeted penalty functions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id="227" name="Google Shape;227;p33"/>
          <p:cNvPicPr preferRelativeResize="0"/>
          <p:nvPr/>
        </p:nvPicPr>
        <p:blipFill rotWithShape="1">
          <a:blip r:embed="rId3">
            <a:alphaModFix/>
          </a:blip>
          <a:srcRect b="0" l="0" r="22863" t="0"/>
          <a:stretch/>
        </p:blipFill>
        <p:spPr>
          <a:xfrm>
            <a:off x="517011" y="2778151"/>
            <a:ext cx="4355900" cy="2179125"/>
          </a:xfrm>
          <a:prstGeom prst="rect">
            <a:avLst/>
          </a:prstGeom>
          <a:noFill/>
          <a:ln>
            <a:noFill/>
          </a:ln>
        </p:spPr>
      </p:pic>
      <p:pic>
        <p:nvPicPr>
          <p:cNvPr id="228" name="Google Shape;228;p33" title="Screenshot 2026-05-04 at 12.14.17 AM.png"/>
          <p:cNvPicPr preferRelativeResize="0"/>
          <p:nvPr/>
        </p:nvPicPr>
        <p:blipFill>
          <a:blip r:embed="rId4">
            <a:alphaModFix/>
          </a:blip>
          <a:stretch>
            <a:fillRect/>
          </a:stretch>
        </p:blipFill>
        <p:spPr>
          <a:xfrm>
            <a:off x="4872899" y="3267901"/>
            <a:ext cx="3568875" cy="1362900"/>
          </a:xfrm>
          <a:prstGeom prst="rect">
            <a:avLst/>
          </a:prstGeom>
          <a:noFill/>
          <a:ln>
            <a:noFill/>
          </a:ln>
        </p:spPr>
      </p:pic>
      <p:sp>
        <p:nvSpPr>
          <p:cNvPr id="229" name="Google Shape;229;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Custom Penalty Terms for Each Basis (Transient)</a:t>
            </a:r>
            <a:endParaRPr/>
          </a:p>
        </p:txBody>
      </p:sp>
      <p:sp>
        <p:nvSpPr>
          <p:cNvPr id="230" name="Google Shape;230;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Drums: High L1 Sparsity Penalty </a:t>
            </a:r>
            <a:endParaRPr/>
          </a:p>
          <a:p>
            <a:pPr indent="0" lvl="0" marL="0" rtl="0" algn="l">
              <a:spcBef>
                <a:spcPts val="1200"/>
              </a:spcBef>
              <a:spcAft>
                <a:spcPts val="0"/>
              </a:spcAft>
              <a:buNone/>
            </a:pPr>
            <a:r>
              <a:rPr lang="en"/>
              <a:t>Capture the characteristic of the typical percussive transient of a drum hit. </a:t>
            </a:r>
            <a:endParaRPr/>
          </a:p>
          <a:p>
            <a:pPr indent="-317500" lvl="0" marL="457200" rtl="0" algn="l">
              <a:spcBef>
                <a:spcPts val="1200"/>
              </a:spcBef>
              <a:spcAft>
                <a:spcPts val="0"/>
              </a:spcAft>
              <a:buSzPts val="1400"/>
              <a:buChar char="-"/>
            </a:pPr>
            <a:r>
              <a:rPr lang="en" sz="1400"/>
              <a:t>Loud</a:t>
            </a:r>
            <a:endParaRPr sz="1400"/>
          </a:p>
          <a:p>
            <a:pPr indent="-317500" lvl="0" marL="457200" rtl="0" algn="l">
              <a:spcBef>
                <a:spcPts val="0"/>
              </a:spcBef>
              <a:spcAft>
                <a:spcPts val="0"/>
              </a:spcAft>
              <a:buSzPts val="1400"/>
              <a:buChar char="-"/>
            </a:pPr>
            <a:r>
              <a:rPr lang="en" sz="1400"/>
              <a:t>full frequency response</a:t>
            </a:r>
            <a:endParaRPr sz="1400"/>
          </a:p>
          <a:p>
            <a:pPr indent="-317500" lvl="0" marL="457200" rtl="0" algn="l">
              <a:spcBef>
                <a:spcPts val="0"/>
              </a:spcBef>
              <a:spcAft>
                <a:spcPts val="0"/>
              </a:spcAft>
              <a:buSzPts val="1400"/>
              <a:buChar char="-"/>
            </a:pPr>
            <a:r>
              <a:rPr lang="en" sz="1400"/>
              <a:t>fast attack</a:t>
            </a:r>
            <a:endParaRPr sz="1400"/>
          </a:p>
          <a:p>
            <a:pPr indent="-317500" lvl="0" marL="457200" rtl="0" algn="l">
              <a:spcBef>
                <a:spcPts val="0"/>
              </a:spcBef>
              <a:spcAft>
                <a:spcPts val="0"/>
              </a:spcAft>
              <a:buSzPts val="1400"/>
              <a:buChar char="-"/>
            </a:pPr>
            <a:r>
              <a:rPr lang="en" sz="1400"/>
              <a:t>fast release</a:t>
            </a:r>
            <a:endParaRPr sz="14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Custom Penalty Terms for Each Basis (Harmonic)</a:t>
            </a:r>
            <a:endParaRPr/>
          </a:p>
        </p:txBody>
      </p:sp>
      <p:sp>
        <p:nvSpPr>
          <p:cNvPr id="236" name="Google Shape;236;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Temporal </a:t>
            </a:r>
            <a:r>
              <a:rPr lang="en"/>
              <a:t>Continuity</a:t>
            </a:r>
            <a:r>
              <a:rPr lang="en"/>
              <a:t> Penalty: </a:t>
            </a:r>
            <a:endParaRPr/>
          </a:p>
          <a:p>
            <a:pPr indent="0" lvl="0" marL="0" rtl="0" algn="l">
              <a:spcBef>
                <a:spcPts val="1200"/>
              </a:spcBef>
              <a:spcAft>
                <a:spcPts val="0"/>
              </a:spcAft>
              <a:buNone/>
            </a:pPr>
            <a:r>
              <a:rPr lang="en"/>
              <a:t>Produces </a:t>
            </a:r>
            <a:r>
              <a:rPr lang="en"/>
              <a:t>consistent</a:t>
            </a:r>
            <a:r>
              <a:rPr lang="en"/>
              <a:t> and smoother sounds over time</a:t>
            </a:r>
            <a:endParaRPr/>
          </a:p>
          <a:p>
            <a:pPr indent="0" lvl="0" marL="0" rtl="0" algn="l">
              <a:spcBef>
                <a:spcPts val="1200"/>
              </a:spcBef>
              <a:spcAft>
                <a:spcPts val="1200"/>
              </a:spcAft>
              <a:buNone/>
            </a:pPr>
            <a:r>
              <a:rPr lang="en"/>
              <a:t>Frame to frame, any abuprut changes will be heavily penalized. </a:t>
            </a:r>
            <a:endParaRPr/>
          </a:p>
        </p:txBody>
      </p:sp>
      <p:pic>
        <p:nvPicPr>
          <p:cNvPr id="237" name="Google Shape;237;p34" title="Screenshot 2026-05-04 at 1.28.34 PM.png"/>
          <p:cNvPicPr preferRelativeResize="0"/>
          <p:nvPr/>
        </p:nvPicPr>
        <p:blipFill>
          <a:blip r:embed="rId3">
            <a:alphaModFix/>
          </a:blip>
          <a:stretch>
            <a:fillRect/>
          </a:stretch>
        </p:blipFill>
        <p:spPr>
          <a:xfrm>
            <a:off x="1396815" y="2644072"/>
            <a:ext cx="6350361" cy="1045550"/>
          </a:xfrm>
          <a:prstGeom prst="rect">
            <a:avLst/>
          </a:prstGeom>
          <a:noFill/>
          <a:ln>
            <a:noFill/>
          </a:ln>
        </p:spPr>
      </p:pic>
      <p:pic>
        <p:nvPicPr>
          <p:cNvPr id="238" name="Google Shape;238;p34"/>
          <p:cNvPicPr preferRelativeResize="0"/>
          <p:nvPr/>
        </p:nvPicPr>
        <p:blipFill>
          <a:blip r:embed="rId4">
            <a:alphaModFix/>
          </a:blip>
          <a:stretch>
            <a:fillRect/>
          </a:stretch>
        </p:blipFill>
        <p:spPr>
          <a:xfrm>
            <a:off x="2815220" y="3689625"/>
            <a:ext cx="3513551" cy="13559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Custom Penalty Terms for Each Basis (Harmonic)</a:t>
            </a:r>
            <a:endParaRPr/>
          </a:p>
        </p:txBody>
      </p:sp>
      <p:sp>
        <p:nvSpPr>
          <p:cNvPr id="244" name="Google Shape;244;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Conceptually minimizing this reduces difference between adjacent time frames</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Results in modified Multiplicative update breaking it up between positive and negative components:</a:t>
            </a:r>
            <a:endParaRPr/>
          </a:p>
          <a:p>
            <a:pPr indent="0" lvl="0" marL="0" rtl="0" algn="l">
              <a:spcBef>
                <a:spcPts val="1200"/>
              </a:spcBef>
              <a:spcAft>
                <a:spcPts val="1200"/>
              </a:spcAft>
              <a:buNone/>
            </a:pPr>
            <a:r>
              <a:t/>
            </a:r>
            <a:endParaRPr/>
          </a:p>
        </p:txBody>
      </p:sp>
      <p:pic>
        <p:nvPicPr>
          <p:cNvPr id="245" name="Google Shape;245;p35" title="Screenshot 2026-05-04 at 1.28.34 PM.png"/>
          <p:cNvPicPr preferRelativeResize="0"/>
          <p:nvPr/>
        </p:nvPicPr>
        <p:blipFill>
          <a:blip r:embed="rId3">
            <a:alphaModFix/>
          </a:blip>
          <a:stretch>
            <a:fillRect/>
          </a:stretch>
        </p:blipFill>
        <p:spPr>
          <a:xfrm>
            <a:off x="1668688" y="1600200"/>
            <a:ext cx="5806625" cy="956025"/>
          </a:xfrm>
          <a:prstGeom prst="rect">
            <a:avLst/>
          </a:prstGeom>
          <a:noFill/>
          <a:ln>
            <a:noFill/>
          </a:ln>
        </p:spPr>
      </p:pic>
      <p:pic>
        <p:nvPicPr>
          <p:cNvPr id="246" name="Google Shape;246;p35" title="Screenshot 2026-05-04 at 1.39.16 PM.png"/>
          <p:cNvPicPr preferRelativeResize="0"/>
          <p:nvPr/>
        </p:nvPicPr>
        <p:blipFill>
          <a:blip r:embed="rId4">
            <a:alphaModFix/>
          </a:blip>
          <a:stretch>
            <a:fillRect/>
          </a:stretch>
        </p:blipFill>
        <p:spPr>
          <a:xfrm>
            <a:off x="1206425" y="3371750"/>
            <a:ext cx="6731149" cy="11557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Formula</a:t>
            </a:r>
            <a:endParaRPr/>
          </a:p>
        </p:txBody>
      </p:sp>
      <p:pic>
        <p:nvPicPr>
          <p:cNvPr id="252" name="Google Shape;252;p36"/>
          <p:cNvPicPr preferRelativeResize="0"/>
          <p:nvPr/>
        </p:nvPicPr>
        <p:blipFill>
          <a:blip r:embed="rId3">
            <a:alphaModFix/>
          </a:blip>
          <a:stretch>
            <a:fillRect/>
          </a:stretch>
        </p:blipFill>
        <p:spPr>
          <a:xfrm>
            <a:off x="400050" y="1733550"/>
            <a:ext cx="8343900" cy="16764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Interpreting Custom Penalties</a:t>
            </a:r>
            <a:endParaRPr/>
          </a:p>
        </p:txBody>
      </p:sp>
      <p:sp>
        <p:nvSpPr>
          <p:cNvPr id="258" name="Google Shape;258;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Tuning hyperparameters individually:</a:t>
            </a:r>
            <a:endParaRPr/>
          </a:p>
          <a:p>
            <a:pPr indent="-342900" lvl="0" marL="457200" rtl="0" algn="l">
              <a:spcBef>
                <a:spcPts val="1200"/>
              </a:spcBef>
              <a:spcAft>
                <a:spcPts val="0"/>
              </a:spcAft>
              <a:buSzPts val="1800"/>
              <a:buChar char="-"/>
            </a:pPr>
            <a:r>
              <a:rPr lang="en"/>
              <a:t>low sparsity and low temporal continuity to vocals preserves jagged syllables</a:t>
            </a:r>
            <a:endParaRPr/>
          </a:p>
          <a:p>
            <a:pPr indent="-342900" lvl="0" marL="457200" rtl="0" algn="l">
              <a:spcBef>
                <a:spcPts val="0"/>
              </a:spcBef>
              <a:spcAft>
                <a:spcPts val="0"/>
              </a:spcAft>
              <a:buSzPts val="1800"/>
              <a:buChar char="-"/>
            </a:pPr>
            <a:r>
              <a:rPr lang="en"/>
              <a:t>high sparsity to drums to correlate transient natures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Force algorithm to reject </a:t>
            </a:r>
            <a:r>
              <a:rPr lang="en"/>
              <a:t>transience</a:t>
            </a:r>
            <a:r>
              <a:rPr lang="en"/>
              <a:t> in harmonics and vice versa</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Improves separation fidelity: </a:t>
            </a:r>
            <a:r>
              <a:rPr lang="en"/>
              <a:t>analogous</a:t>
            </a:r>
            <a:r>
              <a:rPr lang="en"/>
              <a:t> to keeping everything with their own type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Phase Recovery: Soft Mask Wiener Filtering </a:t>
            </a:r>
            <a:endParaRPr/>
          </a:p>
        </p:txBody>
      </p:sp>
      <p:sp>
        <p:nvSpPr>
          <p:cNvPr id="264" name="Google Shape;264;p38"/>
          <p:cNvSpPr txBox="1"/>
          <p:nvPr>
            <p:ph idx="1" type="body"/>
          </p:nvPr>
        </p:nvSpPr>
        <p:spPr>
          <a:xfrm>
            <a:off x="311700" y="1145875"/>
            <a:ext cx="8520600" cy="3423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Final raw NMF estimate </a:t>
            </a:r>
            <a:r>
              <a:rPr i="1" lang="en"/>
              <a:t>V ≈ BW</a:t>
            </a:r>
            <a:r>
              <a:rPr lang="en"/>
              <a:t> lacks phase information</a:t>
            </a:r>
            <a:endParaRPr/>
          </a:p>
          <a:p>
            <a:pPr indent="-342900" lvl="0" marL="457200" rtl="0" algn="l">
              <a:spcBef>
                <a:spcPts val="1200"/>
              </a:spcBef>
              <a:spcAft>
                <a:spcPts val="0"/>
              </a:spcAft>
              <a:buSzPts val="1800"/>
              <a:buChar char="-"/>
            </a:pPr>
            <a:r>
              <a:rPr lang="en"/>
              <a:t>iterative scheme on magnitude spectrogram</a:t>
            </a:r>
            <a:endParaRPr/>
          </a:p>
          <a:p>
            <a:pPr indent="-342900" lvl="0" marL="457200" rtl="0" algn="l">
              <a:spcBef>
                <a:spcPts val="0"/>
              </a:spcBef>
              <a:spcAft>
                <a:spcPts val="0"/>
              </a:spcAft>
              <a:buSzPts val="1800"/>
              <a:buChar char="-"/>
            </a:pPr>
            <a:r>
              <a:rPr lang="en"/>
              <a:t>robotic audio if reconstructed directly</a:t>
            </a:r>
            <a:endParaRPr/>
          </a:p>
          <a:p>
            <a:pPr indent="0" lvl="0" marL="0" rtl="0" algn="l">
              <a:spcBef>
                <a:spcPts val="1200"/>
              </a:spcBef>
              <a:spcAft>
                <a:spcPts val="0"/>
              </a:spcAft>
              <a:buNone/>
            </a:pPr>
            <a:r>
              <a:rPr lang="en"/>
              <a:t>Solution: Wiener Filter </a:t>
            </a:r>
            <a:endParaRPr/>
          </a:p>
          <a:p>
            <a:pPr indent="-342900" lvl="0" marL="457200" rtl="0" algn="l">
              <a:spcBef>
                <a:spcPts val="1200"/>
              </a:spcBef>
              <a:spcAft>
                <a:spcPts val="0"/>
              </a:spcAft>
              <a:buSzPts val="1800"/>
              <a:buChar char="-"/>
            </a:pPr>
            <a:r>
              <a:rPr lang="en"/>
              <a:t>represents the proportional contribution of each</a:t>
            </a:r>
            <a:br>
              <a:rPr lang="en"/>
            </a:br>
            <a:r>
              <a:rPr lang="en"/>
              <a:t>instrument at every time-frequency bin</a:t>
            </a:r>
            <a:endParaRPr/>
          </a:p>
        </p:txBody>
      </p:sp>
      <p:pic>
        <p:nvPicPr>
          <p:cNvPr id="265" name="Google Shape;265;p38" title="Screenshot 2026-05-04 at 2.34.15 PM.png"/>
          <p:cNvPicPr preferRelativeResize="0"/>
          <p:nvPr/>
        </p:nvPicPr>
        <p:blipFill>
          <a:blip r:embed="rId3">
            <a:alphaModFix/>
          </a:blip>
          <a:stretch>
            <a:fillRect/>
          </a:stretch>
        </p:blipFill>
        <p:spPr>
          <a:xfrm>
            <a:off x="6051325" y="1145875"/>
            <a:ext cx="2780974" cy="1547975"/>
          </a:xfrm>
          <a:prstGeom prst="rect">
            <a:avLst/>
          </a:prstGeom>
          <a:noFill/>
          <a:ln cap="flat" cmpd="sng" w="9525">
            <a:solidFill>
              <a:schemeClr val="dk1"/>
            </a:solidFill>
            <a:prstDash val="solid"/>
            <a:round/>
            <a:headEnd len="sm" w="sm" type="none"/>
            <a:tailEnd len="sm" w="sm" type="none"/>
          </a:ln>
        </p:spPr>
      </p:pic>
      <p:sp>
        <p:nvSpPr>
          <p:cNvPr id="266" name="Google Shape;266;p38"/>
          <p:cNvSpPr txBox="1"/>
          <p:nvPr/>
        </p:nvSpPr>
        <p:spPr>
          <a:xfrm>
            <a:off x="6051425" y="2775275"/>
            <a:ext cx="27810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Triodion"/>
                <a:ea typeface="Triodion"/>
                <a:cs typeface="Triodion"/>
                <a:sym typeface="Triodion"/>
              </a:rPr>
              <a:t>Fun Fact: Tufts Alumni</a:t>
            </a:r>
            <a:endParaRPr sz="1800">
              <a:solidFill>
                <a:schemeClr val="dk1"/>
              </a:solidFill>
              <a:latin typeface="Triodion"/>
              <a:ea typeface="Triodion"/>
              <a:cs typeface="Triodion"/>
              <a:sym typeface="Triodion"/>
            </a:endParaRPr>
          </a:p>
        </p:txBody>
      </p:sp>
      <p:pic>
        <p:nvPicPr>
          <p:cNvPr id="267" name="Google Shape;267;p38" title="Screenshot 2026-05-04 at 2.37.13 PM.png"/>
          <p:cNvPicPr preferRelativeResize="0"/>
          <p:nvPr/>
        </p:nvPicPr>
        <p:blipFill rotWithShape="1">
          <a:blip r:embed="rId4">
            <a:alphaModFix/>
          </a:blip>
          <a:srcRect b="25680" l="5471" r="9977" t="15915"/>
          <a:stretch/>
        </p:blipFill>
        <p:spPr>
          <a:xfrm>
            <a:off x="272325" y="4006100"/>
            <a:ext cx="4517175" cy="758350"/>
          </a:xfrm>
          <a:prstGeom prst="rect">
            <a:avLst/>
          </a:prstGeom>
          <a:noFill/>
          <a:ln>
            <a:noFill/>
          </a:ln>
        </p:spPr>
      </p:pic>
      <p:pic>
        <p:nvPicPr>
          <p:cNvPr id="268" name="Google Shape;268;p38" title="Screenshot 2026-05-03 at 11.07.10 PM.png"/>
          <p:cNvPicPr preferRelativeResize="0"/>
          <p:nvPr/>
        </p:nvPicPr>
        <p:blipFill>
          <a:blip r:embed="rId5">
            <a:alphaModFix/>
          </a:blip>
          <a:stretch>
            <a:fillRect/>
          </a:stretch>
        </p:blipFill>
        <p:spPr>
          <a:xfrm>
            <a:off x="5322600" y="3705575"/>
            <a:ext cx="2923050" cy="1359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2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a:t>
            </a:r>
            <a:endParaRPr/>
          </a:p>
        </p:txBody>
      </p:sp>
      <p:sp>
        <p:nvSpPr>
          <p:cNvPr id="274" name="Google Shape;274;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How do we assess if our output makes sense?</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AutoNum type="arabicPeriod"/>
            </a:pPr>
            <a:r>
              <a:rPr lang="en"/>
              <a:t>Examine how our activations / weights compare between instrument types</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AutoNum type="arabicPeriod"/>
            </a:pPr>
            <a:r>
              <a:rPr lang="en"/>
              <a:t>Quantify how accurate our reconstruction is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a:t>
            </a:r>
            <a:endParaRPr/>
          </a:p>
        </p:txBody>
      </p:sp>
      <p:pic>
        <p:nvPicPr>
          <p:cNvPr id="280" name="Google Shape;280;p40" title="Screenshot 2026-05-04 at 2.39.07 PM.png"/>
          <p:cNvPicPr preferRelativeResize="0"/>
          <p:nvPr/>
        </p:nvPicPr>
        <p:blipFill>
          <a:blip r:embed="rId3">
            <a:alphaModFix/>
          </a:blip>
          <a:stretch>
            <a:fillRect/>
          </a:stretch>
        </p:blipFill>
        <p:spPr>
          <a:xfrm>
            <a:off x="0" y="1017735"/>
            <a:ext cx="9144000" cy="363657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a:t>
            </a:r>
            <a:endParaRPr/>
          </a:p>
        </p:txBody>
      </p:sp>
      <p:sp>
        <p:nvSpPr>
          <p:cNvPr id="286" name="Google Shape;286;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Quantitative Performance Measures: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Blind Source Separation (BSS) Evaluation Toolkit:</a:t>
            </a:r>
            <a:endParaRPr/>
          </a:p>
          <a:p>
            <a:pPr indent="-342900" lvl="0" marL="457200" rtl="0" algn="l">
              <a:spcBef>
                <a:spcPts val="1200"/>
              </a:spcBef>
              <a:spcAft>
                <a:spcPts val="0"/>
              </a:spcAft>
              <a:buSzPts val="1800"/>
              <a:buAutoNum type="arabicPeriod"/>
            </a:pPr>
            <a:r>
              <a:rPr lang="en"/>
              <a:t>Source-to-Distortion Ratio (SDR)				Overall Quality</a:t>
            </a:r>
            <a:endParaRPr/>
          </a:p>
          <a:p>
            <a:pPr indent="-342900" lvl="0" marL="457200" rtl="0" algn="l">
              <a:spcBef>
                <a:spcPts val="0"/>
              </a:spcBef>
              <a:spcAft>
                <a:spcPts val="0"/>
              </a:spcAft>
              <a:buSzPts val="1800"/>
              <a:buAutoNum type="arabicPeriod"/>
            </a:pPr>
            <a:r>
              <a:rPr lang="en"/>
              <a:t>Source-to-Interference Ratio (SIR)			Other Sound Suppression</a:t>
            </a:r>
            <a:endParaRPr/>
          </a:p>
          <a:p>
            <a:pPr indent="-342900" lvl="0" marL="457200" rtl="0" algn="l">
              <a:spcBef>
                <a:spcPts val="0"/>
              </a:spcBef>
              <a:spcAft>
                <a:spcPts val="0"/>
              </a:spcAft>
              <a:buSzPts val="1800"/>
              <a:buAutoNum type="arabicPeriod"/>
            </a:pPr>
            <a:r>
              <a:rPr lang="en"/>
              <a:t>Source-to-Artifact Ratio (SAR)				Artifact Introduction</a:t>
            </a:r>
            <a:endParaRPr/>
          </a:p>
          <a:p>
            <a:pPr indent="0" lvl="0" marL="0" rtl="0" algn="l">
              <a:spcBef>
                <a:spcPts val="1200"/>
              </a:spcBef>
              <a:spcAft>
                <a:spcPts val="1200"/>
              </a:spcAft>
              <a:buNone/>
            </a:pPr>
            <a:r>
              <a:rPr lang="en"/>
              <a:t>All in decibels (dB)</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92" name="Google Shape;292;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93" name="Google Shape;293;p42" title="Screenshot 2026-05-04 at 2.39.37 PM.png"/>
          <p:cNvPicPr preferRelativeResize="0"/>
          <p:nvPr/>
        </p:nvPicPr>
        <p:blipFill>
          <a:blip r:embed="rId3">
            <a:alphaModFix/>
          </a:blip>
          <a:stretch>
            <a:fillRect/>
          </a:stretch>
        </p:blipFill>
        <p:spPr>
          <a:xfrm>
            <a:off x="0" y="259472"/>
            <a:ext cx="9143998" cy="443955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 sz="2500"/>
              <a:t>The Limits of the Current Pipeline</a:t>
            </a:r>
            <a:endParaRPr sz="2500"/>
          </a:p>
        </p:txBody>
      </p:sp>
      <p:sp>
        <p:nvSpPr>
          <p:cNvPr id="299" name="Google Shape;299;p43"/>
          <p:cNvSpPr txBox="1"/>
          <p:nvPr>
            <p:ph idx="1" type="body"/>
          </p:nvPr>
        </p:nvSpPr>
        <p:spPr>
          <a:xfrm>
            <a:off x="311700" y="1077775"/>
            <a:ext cx="80460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H</a:t>
            </a:r>
            <a:r>
              <a:rPr lang="en"/>
              <a:t>ard-coding ranks for each stem basis </a:t>
            </a:r>
            <a:endParaRPr/>
          </a:p>
          <a:p>
            <a:pPr indent="-325755" lvl="0" marL="457200" rtl="0" algn="l">
              <a:spcBef>
                <a:spcPts val="0"/>
              </a:spcBef>
              <a:spcAft>
                <a:spcPts val="0"/>
              </a:spcAft>
              <a:buSzPct val="100000"/>
              <a:buChar char="-"/>
            </a:pPr>
            <a:r>
              <a:rPr lang="en"/>
              <a:t>Prone to over capture or under capture an accurate representation for all basis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325755" lvl="0" marL="457200" rtl="0" algn="l">
              <a:spcBef>
                <a:spcPts val="0"/>
              </a:spcBef>
              <a:spcAft>
                <a:spcPts val="0"/>
              </a:spcAft>
              <a:buSzPct val="100000"/>
              <a:buChar char="-"/>
            </a:pPr>
            <a:r>
              <a:rPr lang="en"/>
              <a:t>When two instruments overlap at the same frequency bin, using the mixed phase introduces interference in the isolated stems.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coincidentally are the two shortfalls Tjao’s Harmonic Variable Sized Dictionary Learning address: </a:t>
            </a:r>
            <a:endParaRPr/>
          </a:p>
          <a:p>
            <a:pPr indent="-325755" lvl="0" marL="457200" rtl="0" algn="l">
              <a:spcBef>
                <a:spcPts val="0"/>
              </a:spcBef>
              <a:spcAft>
                <a:spcPts val="0"/>
              </a:spcAft>
              <a:buSzPct val="100000"/>
              <a:buChar char="-"/>
            </a:pPr>
            <a:r>
              <a:rPr lang="en"/>
              <a:t>Dynamic dictionary sizing </a:t>
            </a:r>
            <a:endParaRPr/>
          </a:p>
          <a:p>
            <a:pPr indent="-325755" lvl="0" marL="457200" rtl="0" algn="l">
              <a:spcBef>
                <a:spcPts val="0"/>
              </a:spcBef>
              <a:spcAft>
                <a:spcPts val="0"/>
              </a:spcAft>
              <a:buSzPct val="100000"/>
              <a:buChar char="-"/>
            </a:pPr>
            <a:r>
              <a:rPr lang="en"/>
              <a:t>Same time nearly frequency distinction and isolation.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ct val="61111"/>
              <a:buFont typeface="Arial"/>
              <a:buNone/>
            </a:pPr>
            <a:r>
              <a:rPr lang="en"/>
              <a:t>In the </a:t>
            </a:r>
            <a:r>
              <a:rPr lang="en"/>
              <a:t>future</a:t>
            </a:r>
            <a:r>
              <a:rPr lang="en"/>
              <a:t>, A </a:t>
            </a:r>
            <a:r>
              <a:rPr lang="en"/>
              <a:t>proposed</a:t>
            </a:r>
            <a:r>
              <a:rPr lang="en"/>
              <a:t> </a:t>
            </a:r>
            <a:r>
              <a:rPr lang="en"/>
              <a:t>hybrid</a:t>
            </a:r>
            <a:r>
              <a:rPr lang="en"/>
              <a:t> Method could </a:t>
            </a:r>
            <a:r>
              <a:rPr lang="en"/>
              <a:t>potentially</a:t>
            </a:r>
            <a:r>
              <a:rPr lang="en"/>
              <a:t> solve this problem. </a:t>
            </a:r>
            <a:endParaRPr/>
          </a:p>
          <a:p>
            <a:pPr indent="0" lvl="0" marL="0" rtl="0" algn="l">
              <a:spcBef>
                <a:spcPts val="0"/>
              </a:spcBef>
              <a:spcAft>
                <a:spcPts val="120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Things to improve in the future</a:t>
            </a:r>
            <a:endParaRPr/>
          </a:p>
        </p:txBody>
      </p:sp>
      <p:sp>
        <p:nvSpPr>
          <p:cNvPr id="305" name="Google Shape;305;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Utilizing Convolutional dictionary learning </a:t>
            </a:r>
            <a:endParaRPr/>
          </a:p>
          <a:p>
            <a:pPr indent="0" lvl="0" marL="0" rtl="0" algn="l">
              <a:spcBef>
                <a:spcPts val="1200"/>
              </a:spcBef>
              <a:spcAft>
                <a:spcPts val="0"/>
              </a:spcAft>
              <a:buNone/>
            </a:pPr>
            <a:r>
              <a:rPr lang="en"/>
              <a:t>Post Processing Clean up to improve Results. </a:t>
            </a:r>
            <a:endParaRPr/>
          </a:p>
          <a:p>
            <a:pPr indent="-342900" lvl="0" marL="457200" rtl="0" algn="l">
              <a:spcBef>
                <a:spcPts val="1200"/>
              </a:spcBef>
              <a:spcAft>
                <a:spcPts val="0"/>
              </a:spcAft>
              <a:buSzPts val="1800"/>
              <a:buChar char="-"/>
            </a:pPr>
            <a:r>
              <a:rPr lang="en"/>
              <a:t>Sigmoid / Tanh Filtering to help improve signal to noise ratio. </a:t>
            </a:r>
            <a:endParaRPr/>
          </a:p>
          <a:p>
            <a:pPr indent="-342900" lvl="0" marL="457200" rtl="0" algn="l">
              <a:spcBef>
                <a:spcPts val="0"/>
              </a:spcBef>
              <a:spcAft>
                <a:spcPts val="0"/>
              </a:spcAft>
              <a:buSzPts val="1800"/>
              <a:buChar char="-"/>
            </a:pPr>
            <a:r>
              <a:rPr lang="en"/>
              <a:t>Spectral Erasing / De-bleed</a:t>
            </a:r>
            <a:endParaRPr/>
          </a:p>
          <a:p>
            <a:pPr indent="-317500" lvl="1" marL="914400" rtl="0" algn="l">
              <a:spcBef>
                <a:spcPts val="0"/>
              </a:spcBef>
              <a:spcAft>
                <a:spcPts val="0"/>
              </a:spcAft>
              <a:buSzPts val="1400"/>
              <a:buChar char="-"/>
            </a:pPr>
            <a:r>
              <a:rPr lang="en"/>
              <a:t>Finding each instrument basis’ </a:t>
            </a:r>
            <a:r>
              <a:rPr lang="en"/>
              <a:t>prominent</a:t>
            </a:r>
            <a:r>
              <a:rPr lang="en"/>
              <a:t> spectral signature, and dimming those regions activation for other instruments to minimize source bleeding. </a:t>
            </a:r>
            <a:endParaRPr/>
          </a:p>
          <a:p>
            <a:pPr indent="-342900" lvl="0" marL="457200" rtl="0" algn="l">
              <a:spcBef>
                <a:spcPts val="0"/>
              </a:spcBef>
              <a:spcAft>
                <a:spcPts val="0"/>
              </a:spcAft>
              <a:buSzPts val="1800"/>
              <a:buChar char="-"/>
            </a:pPr>
            <a:r>
              <a:rPr lang="en"/>
              <a:t>Implement MFCC as an indicator that aids source separation or as an dynamic adaptive </a:t>
            </a:r>
            <a:r>
              <a:rPr lang="en"/>
              <a:t>envelope</a:t>
            </a:r>
            <a:r>
              <a:rPr lang="en"/>
              <a:t> parameter. </a:t>
            </a:r>
            <a:endParaRPr/>
          </a:p>
          <a:p>
            <a:pPr indent="-317500" lvl="1" marL="914400" rtl="0" algn="l">
              <a:spcBef>
                <a:spcPts val="0"/>
              </a:spcBef>
              <a:spcAft>
                <a:spcPts val="0"/>
              </a:spcAft>
              <a:buSzPts val="1400"/>
              <a:buChar char="-"/>
            </a:pPr>
            <a:r>
              <a:rPr lang="en"/>
              <a:t>Ex: Utilizes MFCC to calculate </a:t>
            </a:r>
            <a:r>
              <a:rPr lang="en"/>
              <a:t>specific</a:t>
            </a:r>
            <a:r>
              <a:rPr lang="en"/>
              <a:t> transient shape and tail to tailor drum isolation envelope.  </a:t>
            </a:r>
            <a:endParaRPr/>
          </a:p>
          <a:p>
            <a:pPr indent="0" lvl="0" marL="0" rtl="0" algn="l">
              <a:spcBef>
                <a:spcPts val="1200"/>
              </a:spcBef>
              <a:spcAft>
                <a:spcPts val="120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5"/>
          <p:cNvSpPr txBox="1"/>
          <p:nvPr>
            <p:ph type="ctrTitle"/>
          </p:nvPr>
        </p:nvSpPr>
        <p:spPr>
          <a:xfrm>
            <a:off x="311700" y="1658613"/>
            <a:ext cx="8520600" cy="1033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Thank You!</a:t>
            </a:r>
            <a:endParaRPr>
              <a:latin typeface="Triodion"/>
              <a:ea typeface="Triodion"/>
              <a:cs typeface="Triodion"/>
              <a:sym typeface="Triodion"/>
            </a:endParaRPr>
          </a:p>
        </p:txBody>
      </p:sp>
      <p:sp>
        <p:nvSpPr>
          <p:cNvPr id="311" name="Google Shape;311;p45"/>
          <p:cNvSpPr txBox="1"/>
          <p:nvPr>
            <p:ph idx="1" type="subTitle"/>
          </p:nvPr>
        </p:nvSpPr>
        <p:spPr>
          <a:xfrm>
            <a:off x="311700" y="2692288"/>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3600"/>
              <a:t>Questions?</a:t>
            </a:r>
            <a:endParaRPr sz="3600">
              <a:latin typeface="Triodion"/>
              <a:ea typeface="Triodion"/>
              <a:cs typeface="Triodion"/>
              <a:sym typeface="Triodio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